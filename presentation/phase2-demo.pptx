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ececc83-00d5-41fc-6d64-9b7132669bcd}">
          <p14:sldIdLst>
            <p14:sldId id="256"/>
            <p14:sldId id="257"/>
          </p14:sldIdLst>
        </p14:section>
        <p14:section name="Demo" id="{e4b22580-f8fa-0356-d515-5f108ddafabc}">
          <p14:sldIdLst>
            <p14:sldId id="258"/>
            <p14:sldId id="259"/>
            <p14:sldId id="260"/>
            <p14:sldId id="261"/>
            <p14:sldId id="262"/>
            <p14:sldId id="263"/>
            <p14:sldId id="264"/>
          </p14:sldIdLst>
        </p14:section>
        <p14:section name="What makes it different" id="{aafe55ce-a6fb-a149-cdbb-3244d8655cab}">
          <p14:sldIdLst>
            <p14:sldId id="265"/>
            <p14:sldId id="266"/>
          </p14:sldIdLst>
        </p14:section>
        <p14:section name="Security" id="{52d4294d-10e9-7816-7f7e-e749633c0163}">
          <p14:sldIdLst>
            <p14:sldId id="267"/>
            <p14:sldId id="268"/>
          </p14:sldIdLst>
        </p14:section>
        <p14:section name="Close" id="{2acb45b0-160a-0085-c1a1-dd2a9d774dce}">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was the plan. Today: everything is built and running. We'll show it live, then walk through what each part does and how safe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seven requirements from the problem statement are done, plus our USP: a live face and hand-sign check for risky logins and recovery. The three deliverables are ready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of the live demo. If anything goes wrong live, the next six slides show the same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short steps. The passkey stays on the device. Face and hand sign are enrolled once and stored only as an encrypted template. The recovery code is shown once and stored hashed.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flip 'simulate new country'. The passkey still works, but the login is held until a live check: your own hand sign plus one random sign, next to your face. A photo or old video can't follow new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laptop shows a QR. A signed-in phone scans it and approves. The laptop makes its own passkey. Then we remove the old phone: it needs a fresh unlock, and its key is revoked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clone of our sign-in page on another address. Four real attacks, including the worst case: we stole the private key and forged the request. It still fails because the signed web address is the fake one. For contrast, the same page grabs a password and OTP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never falls back to a password or SMS. Code plus a live face check starts a 24 hour wait (72 with the code alone). Every signed-in device sees a banner and can cancel. For the demo the wait is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sees devices, sign-in history including the blocked phishing attempt, and revoked keys. The admin can revoke a key or cancel a recovery. Log rows are append-only.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Faces are public, so a face alone is never a login. Our check asks for a hand shape you chose plus one random sign, in random order, with the hand next to the same face throughout. Decided on our server from raw frames; images are never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Inclusivity from the problem statement: voice on every step, QR linking from a trusted phone, hardware keys for basic-phone users, and a layout tested at 360 px.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written threat model lists what is covered, partly covered and not covered. We'd rather be honest about the limits: a real-time deepfake is harder but not impossible, which is why the face check is never a login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stands: no passwords or OTPs anywhere, every phishing attack blocked, all requirements working. What's next to make it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45720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1600200"/>
            <a:ext cx="4754880" cy="13716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548640" y="3017520"/>
            <a:ext cx="4572000" cy="457200"/>
          </a:xfrm>
          <a:prstGeom prst="rect">
            <a:avLst/>
          </a:prstGeom>
          <a:noFill/>
          <a:ln/>
        </p:spPr>
        <p:txBody>
          <a:bodyPr wrap="square" rtlCol="0"/>
          <a:lstStyle>
            <a:lvl1pPr algn="l" indent="0" marL="0">
              <a:buNone/>
              <a:defRPr lang="en-US" sz="1800" dirty="0">
                <a:solidFill>
                  <a:schemeClr val="tx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slideLayout" Target="../slideLayouts/slideLayout3.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3.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4572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CC6-IC04  ·  PASSWORDLESS AUTH  ·  PHASE TWO</a:t>
            </a:r>
            <a:endParaRPr lang="en-US" sz="1200" dirty="0"/>
          </a:p>
        </p:txBody>
      </p:sp>
      <p:sp>
        <p:nvSpPr>
          <p:cNvPr id="3" name="Text 0"/>
          <p:cNvSpPr/>
          <p:nvPr>
            <p:ph idx="101" type="title" hasCustomPrompt="1"/>
          </p:nvPr>
        </p:nvSpPr>
        <p:spPr>
          <a:xfrm>
            <a:off x="548640" y="1600200"/>
            <a:ext cx="4754880" cy="1371600"/>
          </a:xfrm>
          <a:prstGeom prst="rect">
            <a:avLst/>
          </a:prstGeom>
          <a:noFill/>
          <a:ln/>
        </p:spPr>
        <p:txBody>
          <a:bodyPr wrap="square" lIns="0" tIns="0" rIns="0" bIns="0" rtlCol="0" anchor="ctr"/>
          <a:lstStyle/>
          <a:p>
            <a:pPr algn="l" indent="0" marL="0">
              <a:buNone/>
            </a:pPr>
            <a:r>
              <a:rPr lang="en-US" sz="4000" b="1" dirty="0">
                <a:solidFill>
                  <a:schemeClr val="tx1"/>
                </a:solidFill>
              </a:rPr>
              <a:t>Sign in without a password</a:t>
            </a:r>
            <a:endParaRPr lang="en-US" sz="4000" dirty="0"/>
          </a:p>
        </p:txBody>
      </p:sp>
      <p:sp>
        <p:nvSpPr>
          <p:cNvPr id="4" name="Text 0"/>
          <p:cNvSpPr/>
          <p:nvPr>
            <p:ph idx="102" type="body" hasCustomPrompt="1"/>
          </p:nvPr>
        </p:nvSpPr>
        <p:spPr>
          <a:xfrm>
            <a:off x="548640" y="3017520"/>
            <a:ext cx="4572000" cy="457200"/>
          </a:xfrm>
          <a:prstGeom prst="rect">
            <a:avLst/>
          </a:prstGeom>
          <a:noFill/>
          <a:ln/>
        </p:spPr>
        <p:txBody>
          <a:bodyPr wrap="square" lIns="0" tIns="0" rIns="0" bIns="0" rtlCol="0" anchor="t"/>
          <a:lstStyle/>
          <a:p>
            <a:pPr algn="l" indent="0" marL="0">
              <a:buNone/>
            </a:pPr>
            <a:r>
              <a:rPr lang="en-US" sz="1800" dirty="0">
                <a:solidFill>
                  <a:schemeClr val="tx2"/>
                </a:solidFill>
              </a:rPr>
              <a:t>Built, working, and shown live</a:t>
            </a:r>
            <a:endParaRPr lang="en-US" sz="1800" dirty="0"/>
          </a:p>
        </p:txBody>
      </p:sp>
      <p:sp>
        <p:nvSpPr>
          <p:cNvPr id="5" name="cover circle"/>
          <p:cNvSpPr/>
          <p:nvPr/>
        </p:nvSpPr>
        <p:spPr>
          <a:xfrm>
            <a:off x="5760720" y="960120"/>
            <a:ext cx="2468880" cy="2468880"/>
          </a:xfrm>
          <a:prstGeom prst="ellipse">
            <a:avLst/>
          </a:prstGeom>
          <a:solidFill>
            <a:schemeClr val="accent5"/>
          </a:solidFill>
          <a:ln/>
        </p:spPr>
      </p:sp>
      <p:pic>
        <p:nvPicPr>
          <p:cNvPr id="6" name="cover key" descr="preencoded.png">    </p:cNvPr>
          <p:cNvPicPr>
            <a:picLocks noChangeAspect="1"/>
          </p:cNvPicPr>
          <p:nvPr/>
        </p:nvPicPr>
        <p:blipFill>
          <a:blip r:embed="rId1"/>
          <a:stretch>
            <a:fillRect/>
          </a:stretch>
        </p:blipFill>
        <p:spPr>
          <a:xfrm>
            <a:off x="6373368" y="1581912"/>
            <a:ext cx="1234440" cy="1234440"/>
          </a:xfrm>
          <a:prstGeom prst="rect">
            <a:avLst/>
          </a:prstGeom>
        </p:spPr>
      </p:pic>
      <p:sp>
        <p:nvSpPr>
          <p:cNvPr id="7" name="cover face circle"/>
          <p:cNvSpPr/>
          <p:nvPr/>
        </p:nvSpPr>
        <p:spPr>
          <a:xfrm>
            <a:off x="5440680" y="2880360"/>
            <a:ext cx="1051560" cy="1051560"/>
          </a:xfrm>
          <a:prstGeom prst="ellipse">
            <a:avLst/>
          </a:prstGeom>
          <a:solidFill>
            <a:schemeClr val="accent1"/>
          </a:solidFill>
          <a:ln/>
        </p:spPr>
      </p:sp>
      <p:pic>
        <p:nvPicPr>
          <p:cNvPr id="8" name="cover face icon" descr="preencoded.png">    </p:cNvPr>
          <p:cNvPicPr>
            <a:picLocks noChangeAspect="1"/>
          </p:cNvPicPr>
          <p:nvPr/>
        </p:nvPicPr>
        <p:blipFill>
          <a:blip r:embed="rId2"/>
          <a:stretch>
            <a:fillRect/>
          </a:stretch>
        </p:blipFill>
        <p:spPr>
          <a:xfrm>
            <a:off x="5703570" y="3143250"/>
            <a:ext cx="525780" cy="525780"/>
          </a:xfrm>
          <a:prstGeom prst="rect">
            <a:avLst/>
          </a:prstGeom>
        </p:spPr>
      </p:pic>
      <p:sp>
        <p:nvSpPr>
          <p:cNvPr id="9" name="cover hand circle"/>
          <p:cNvSpPr/>
          <p:nvPr/>
        </p:nvSpPr>
        <p:spPr>
          <a:xfrm>
            <a:off x="7498080" y="2880360"/>
            <a:ext cx="1051560" cy="1051560"/>
          </a:xfrm>
          <a:prstGeom prst="ellipse">
            <a:avLst/>
          </a:prstGeom>
          <a:solidFill>
            <a:schemeClr val="accent1"/>
          </a:solidFill>
          <a:ln/>
        </p:spPr>
      </p:sp>
      <p:pic>
        <p:nvPicPr>
          <p:cNvPr id="10" name="cover hand icon" descr="preencoded.png">    </p:cNvPr>
          <p:cNvPicPr>
            <a:picLocks noChangeAspect="1"/>
          </p:cNvPicPr>
          <p:nvPr/>
        </p:nvPicPr>
        <p:blipFill>
          <a:blip r:embed="rId3"/>
          <a:stretch>
            <a:fillRect/>
          </a:stretch>
        </p:blipFill>
        <p:spPr>
          <a:xfrm>
            <a:off x="7760970" y="3143250"/>
            <a:ext cx="525780" cy="5257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Every requirement is built and working</a:t>
            </a:r>
            <a:endParaRPr lang="en-US" sz="3000" dirty="0"/>
          </a:p>
        </p:txBody>
      </p:sp>
      <p:sp>
        <p:nvSpPr>
          <p:cNvPr id="3" name="req card 1"/>
          <p:cNvSpPr/>
          <p:nvPr/>
        </p:nvSpPr>
        <p:spPr>
          <a:xfrm>
            <a:off x="548640" y="1188720"/>
            <a:ext cx="1874520" cy="1298448"/>
          </a:xfrm>
          <a:prstGeom prst="roundRect">
            <a:avLst>
              <a:gd name="adj" fmla="val 5634"/>
            </a:avLst>
          </a:prstGeom>
          <a:solidFill>
            <a:schemeClr val="bg2"/>
          </a:solidFill>
          <a:ln/>
        </p:spPr>
      </p:sp>
      <p:sp>
        <p:nvSpPr>
          <p:cNvPr id="4" name="Shape 2"/>
          <p:cNvSpPr/>
          <p:nvPr/>
        </p:nvSpPr>
        <p:spPr>
          <a:xfrm>
            <a:off x="731520" y="1371600"/>
            <a:ext cx="502920" cy="502920"/>
          </a:xfrm>
          <a:prstGeom prst="ellipse">
            <a:avLst/>
          </a:prstGeom>
          <a:solidFill>
            <a:schemeClr val="accent5"/>
          </a:solidFill>
          <a:ln/>
        </p:spPr>
      </p:sp>
      <p:pic>
        <p:nvPicPr>
          <p:cNvPr id="5" name="Image 0" descr="preencoded.png">    </p:cNvPr>
          <p:cNvPicPr>
            <a:picLocks noChangeAspect="1"/>
          </p:cNvPicPr>
          <p:nvPr/>
        </p:nvPicPr>
        <p:blipFill>
          <a:blip r:embed="rId1"/>
          <a:stretch>
            <a:fillRect/>
          </a:stretch>
        </p:blipFill>
        <p:spPr>
          <a:xfrm>
            <a:off x="857250" y="1497330"/>
            <a:ext cx="251460" cy="251460"/>
          </a:xfrm>
          <a:prstGeom prst="rect">
            <a:avLst/>
          </a:prstGeom>
        </p:spPr>
      </p:pic>
      <p:sp>
        <p:nvSpPr>
          <p:cNvPr id="6" name="Shape 3"/>
          <p:cNvSpPr/>
          <p:nvPr/>
        </p:nvSpPr>
        <p:spPr>
          <a:xfrm>
            <a:off x="2039112" y="1371600"/>
            <a:ext cx="219456" cy="219456"/>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2083003" y="1415491"/>
            <a:ext cx="131674" cy="131674"/>
          </a:xfrm>
          <a:prstGeom prst="rect">
            <a:avLst/>
          </a:prstGeom>
        </p:spPr>
      </p:pic>
      <p:sp>
        <p:nvSpPr>
          <p:cNvPr id="8" name="Text 4"/>
          <p:cNvSpPr txBox="1"/>
          <p:nvPr/>
        </p:nvSpPr>
        <p:spPr>
          <a:xfrm>
            <a:off x="731520" y="1965960"/>
            <a:ext cx="1600200" cy="256032"/>
          </a:xfrm>
          <a:prstGeom prst="rect">
            <a:avLst/>
          </a:prstGeom>
          <a:noFill/>
          <a:ln/>
        </p:spPr>
        <p:txBody>
          <a:bodyPr wrap="square" lIns="0" tIns="0" rIns="0" bIns="0" rtlCol="0" anchor="t"/>
          <a:lstStyle/>
          <a:p>
            <a:pPr indent="0" marL="0">
              <a:buNone/>
            </a:pPr>
            <a:r>
              <a:rPr lang="en-US" sz="1600" b="1" dirty="0">
                <a:solidFill>
                  <a:schemeClr val="tx1"/>
                </a:solidFill>
              </a:rPr>
              <a:t>Passkey login</a:t>
            </a:r>
            <a:endParaRPr lang="en-US" sz="1600" dirty="0"/>
          </a:p>
        </p:txBody>
      </p:sp>
      <p:sp>
        <p:nvSpPr>
          <p:cNvPr id="9" name="Text 5"/>
          <p:cNvSpPr txBox="1"/>
          <p:nvPr/>
        </p:nvSpPr>
        <p:spPr>
          <a:xfrm>
            <a:off x="731520" y="2194560"/>
            <a:ext cx="1645920" cy="228600"/>
          </a:xfrm>
          <a:prstGeom prst="rect">
            <a:avLst/>
          </a:prstGeom>
          <a:noFill/>
          <a:ln/>
        </p:spPr>
        <p:txBody>
          <a:bodyPr wrap="square" lIns="0" tIns="0" rIns="0" bIns="0" rtlCol="0" anchor="t"/>
          <a:lstStyle/>
          <a:p>
            <a:pPr indent="0" marL="0">
              <a:buNone/>
            </a:pPr>
            <a:r>
              <a:rPr lang="en-US" sz="1200" dirty="0">
                <a:solidFill>
                  <a:schemeClr val="tx2"/>
                </a:solidFill>
              </a:rPr>
              <a:t>No password, ever</a:t>
            </a:r>
            <a:endParaRPr lang="en-US" sz="1200" dirty="0"/>
          </a:p>
        </p:txBody>
      </p:sp>
      <p:sp>
        <p:nvSpPr>
          <p:cNvPr id="10" name="req card 2"/>
          <p:cNvSpPr/>
          <p:nvPr/>
        </p:nvSpPr>
        <p:spPr>
          <a:xfrm>
            <a:off x="2606040" y="1188720"/>
            <a:ext cx="1874520" cy="1298448"/>
          </a:xfrm>
          <a:prstGeom prst="roundRect">
            <a:avLst>
              <a:gd name="adj" fmla="val 5634"/>
            </a:avLst>
          </a:prstGeom>
          <a:solidFill>
            <a:schemeClr val="bg2"/>
          </a:solidFill>
          <a:ln/>
        </p:spPr>
      </p:sp>
      <p:sp>
        <p:nvSpPr>
          <p:cNvPr id="11" name="Shape 7"/>
          <p:cNvSpPr/>
          <p:nvPr/>
        </p:nvSpPr>
        <p:spPr>
          <a:xfrm>
            <a:off x="2788920" y="1371600"/>
            <a:ext cx="502920" cy="502920"/>
          </a:xfrm>
          <a:prstGeom prst="ellipse">
            <a:avLst/>
          </a:prstGeom>
          <a:solidFill>
            <a:schemeClr val="accent5"/>
          </a:solidFill>
          <a:ln/>
        </p:spPr>
      </p:sp>
      <p:pic>
        <p:nvPicPr>
          <p:cNvPr id="12" name="Image 2" descr="preencoded.png">    </p:cNvPr>
          <p:cNvPicPr>
            <a:picLocks noChangeAspect="1"/>
          </p:cNvPicPr>
          <p:nvPr/>
        </p:nvPicPr>
        <p:blipFill>
          <a:blip r:embed="rId3"/>
          <a:stretch>
            <a:fillRect/>
          </a:stretch>
        </p:blipFill>
        <p:spPr>
          <a:xfrm>
            <a:off x="2914650" y="1497330"/>
            <a:ext cx="251460" cy="251460"/>
          </a:xfrm>
          <a:prstGeom prst="rect">
            <a:avLst/>
          </a:prstGeom>
        </p:spPr>
      </p:pic>
      <p:sp>
        <p:nvSpPr>
          <p:cNvPr id="13" name="Shape 8"/>
          <p:cNvSpPr/>
          <p:nvPr/>
        </p:nvSpPr>
        <p:spPr>
          <a:xfrm>
            <a:off x="4096512" y="1371600"/>
            <a:ext cx="219456" cy="219456"/>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4140403" y="1415491"/>
            <a:ext cx="131674" cy="131674"/>
          </a:xfrm>
          <a:prstGeom prst="rect">
            <a:avLst/>
          </a:prstGeom>
        </p:spPr>
      </p:pic>
      <p:sp>
        <p:nvSpPr>
          <p:cNvPr id="15" name="Text 9"/>
          <p:cNvSpPr txBox="1"/>
          <p:nvPr/>
        </p:nvSpPr>
        <p:spPr>
          <a:xfrm>
            <a:off x="2788920" y="1965960"/>
            <a:ext cx="1600200" cy="256032"/>
          </a:xfrm>
          <a:prstGeom prst="rect">
            <a:avLst/>
          </a:prstGeom>
          <a:noFill/>
          <a:ln/>
        </p:spPr>
        <p:txBody>
          <a:bodyPr wrap="square" lIns="0" tIns="0" rIns="0" bIns="0" rtlCol="0" anchor="t"/>
          <a:lstStyle/>
          <a:p>
            <a:pPr indent="0" marL="0">
              <a:buNone/>
            </a:pPr>
            <a:r>
              <a:rPr lang="en-US" sz="1600" b="1" dirty="0">
                <a:solidFill>
                  <a:schemeClr val="tx1"/>
                </a:solidFill>
              </a:rPr>
              <a:t>Phishing-proof</a:t>
            </a:r>
            <a:endParaRPr lang="en-US" sz="1600" dirty="0"/>
          </a:p>
        </p:txBody>
      </p:sp>
      <p:sp>
        <p:nvSpPr>
          <p:cNvPr id="16" name="Text 10"/>
          <p:cNvSpPr txBox="1"/>
          <p:nvPr/>
        </p:nvSpPr>
        <p:spPr>
          <a:xfrm>
            <a:off x="2788920" y="2194560"/>
            <a:ext cx="1645920" cy="228600"/>
          </a:xfrm>
          <a:prstGeom prst="rect">
            <a:avLst/>
          </a:prstGeom>
          <a:noFill/>
          <a:ln/>
        </p:spPr>
        <p:txBody>
          <a:bodyPr wrap="square" lIns="0" tIns="0" rIns="0" bIns="0" rtlCol="0" anchor="t"/>
          <a:lstStyle/>
          <a:p>
            <a:pPr indent="0" marL="0">
              <a:buNone/>
            </a:pPr>
            <a:r>
              <a:rPr lang="en-US" sz="1200" dirty="0">
                <a:solidFill>
                  <a:schemeClr val="tx2"/>
                </a:solidFill>
              </a:rPr>
              <a:t>Fake sites get nothing</a:t>
            </a:r>
            <a:endParaRPr lang="en-US" sz="1200" dirty="0"/>
          </a:p>
        </p:txBody>
      </p:sp>
      <p:sp>
        <p:nvSpPr>
          <p:cNvPr id="17" name="req card 3"/>
          <p:cNvSpPr/>
          <p:nvPr/>
        </p:nvSpPr>
        <p:spPr>
          <a:xfrm>
            <a:off x="4663440" y="1188720"/>
            <a:ext cx="1874520" cy="1298448"/>
          </a:xfrm>
          <a:prstGeom prst="roundRect">
            <a:avLst>
              <a:gd name="adj" fmla="val 5634"/>
            </a:avLst>
          </a:prstGeom>
          <a:solidFill>
            <a:schemeClr val="bg2"/>
          </a:solidFill>
          <a:ln/>
        </p:spPr>
      </p:sp>
      <p:sp>
        <p:nvSpPr>
          <p:cNvPr id="18" name="Shape 12"/>
          <p:cNvSpPr/>
          <p:nvPr/>
        </p:nvSpPr>
        <p:spPr>
          <a:xfrm>
            <a:off x="4846320" y="1371600"/>
            <a:ext cx="502920" cy="502920"/>
          </a:xfrm>
          <a:prstGeom prst="ellipse">
            <a:avLst/>
          </a:prstGeom>
          <a:solidFill>
            <a:schemeClr val="accent5"/>
          </a:solidFill>
          <a:ln/>
        </p:spPr>
      </p:sp>
      <p:pic>
        <p:nvPicPr>
          <p:cNvPr id="19" name="Image 4" descr="preencoded.png">    </p:cNvPr>
          <p:cNvPicPr>
            <a:picLocks noChangeAspect="1"/>
          </p:cNvPicPr>
          <p:nvPr/>
        </p:nvPicPr>
        <p:blipFill>
          <a:blip r:embed="rId5"/>
          <a:stretch>
            <a:fillRect/>
          </a:stretch>
        </p:blipFill>
        <p:spPr>
          <a:xfrm>
            <a:off x="4972050" y="1497330"/>
            <a:ext cx="251460" cy="251460"/>
          </a:xfrm>
          <a:prstGeom prst="rect">
            <a:avLst/>
          </a:prstGeom>
        </p:spPr>
      </p:pic>
      <p:sp>
        <p:nvSpPr>
          <p:cNvPr id="20" name="Shape 13"/>
          <p:cNvSpPr/>
          <p:nvPr/>
        </p:nvSpPr>
        <p:spPr>
          <a:xfrm>
            <a:off x="6153912" y="1371600"/>
            <a:ext cx="219456" cy="219456"/>
          </a:xfrm>
          <a:prstGeom prst="ellipse">
            <a:avLst/>
          </a:prstGeom>
          <a:solidFill>
            <a:schemeClr val="accent1"/>
          </a:solidFill>
          <a:ln/>
        </p:spPr>
      </p:sp>
      <p:pic>
        <p:nvPicPr>
          <p:cNvPr id="21" name="Image 5" descr="preencoded.png">    </p:cNvPr>
          <p:cNvPicPr>
            <a:picLocks noChangeAspect="1"/>
          </p:cNvPicPr>
          <p:nvPr/>
        </p:nvPicPr>
        <p:blipFill>
          <a:blip r:embed="rId6"/>
          <a:stretch>
            <a:fillRect/>
          </a:stretch>
        </p:blipFill>
        <p:spPr>
          <a:xfrm>
            <a:off x="6197803" y="1415491"/>
            <a:ext cx="131674" cy="131674"/>
          </a:xfrm>
          <a:prstGeom prst="rect">
            <a:avLst/>
          </a:prstGeom>
        </p:spPr>
      </p:pic>
      <p:sp>
        <p:nvSpPr>
          <p:cNvPr id="22" name="Text 14"/>
          <p:cNvSpPr txBox="1"/>
          <p:nvPr/>
        </p:nvSpPr>
        <p:spPr>
          <a:xfrm>
            <a:off x="4846320" y="1965960"/>
            <a:ext cx="1600200" cy="256032"/>
          </a:xfrm>
          <a:prstGeom prst="rect">
            <a:avLst/>
          </a:prstGeom>
          <a:noFill/>
          <a:ln/>
        </p:spPr>
        <p:txBody>
          <a:bodyPr wrap="square" lIns="0" tIns="0" rIns="0" bIns="0" rtlCol="0" anchor="t"/>
          <a:lstStyle/>
          <a:p>
            <a:pPr indent="0" marL="0">
              <a:buNone/>
            </a:pPr>
            <a:r>
              <a:rPr lang="en-US" sz="1600" b="1" dirty="0">
                <a:solidFill>
                  <a:schemeClr val="tx1"/>
                </a:solidFill>
              </a:rPr>
              <a:t>Safe recovery</a:t>
            </a:r>
            <a:endParaRPr lang="en-US" sz="1600" dirty="0"/>
          </a:p>
        </p:txBody>
      </p:sp>
      <p:sp>
        <p:nvSpPr>
          <p:cNvPr id="23" name="Text 15"/>
          <p:cNvSpPr txBox="1"/>
          <p:nvPr/>
        </p:nvSpPr>
        <p:spPr>
          <a:xfrm>
            <a:off x="4846320" y="2194560"/>
            <a:ext cx="1645920" cy="228600"/>
          </a:xfrm>
          <a:prstGeom prst="rect">
            <a:avLst/>
          </a:prstGeom>
          <a:noFill/>
          <a:ln/>
        </p:spPr>
        <p:txBody>
          <a:bodyPr wrap="square" lIns="0" tIns="0" rIns="0" bIns="0" rtlCol="0" anchor="t"/>
          <a:lstStyle/>
          <a:p>
            <a:pPr indent="0" marL="0">
              <a:buNone/>
            </a:pPr>
            <a:r>
              <a:rPr lang="en-US" sz="1200" dirty="0">
                <a:solidFill>
                  <a:schemeClr val="tx2"/>
                </a:solidFill>
              </a:rPr>
              <a:t>Code + face, no SMS</a:t>
            </a:r>
            <a:endParaRPr lang="en-US" sz="1200" dirty="0"/>
          </a:p>
        </p:txBody>
      </p:sp>
      <p:sp>
        <p:nvSpPr>
          <p:cNvPr id="24" name="req card 4"/>
          <p:cNvSpPr/>
          <p:nvPr/>
        </p:nvSpPr>
        <p:spPr>
          <a:xfrm>
            <a:off x="6720840" y="1188720"/>
            <a:ext cx="1874520" cy="1298448"/>
          </a:xfrm>
          <a:prstGeom prst="roundRect">
            <a:avLst>
              <a:gd name="adj" fmla="val 5634"/>
            </a:avLst>
          </a:prstGeom>
          <a:solidFill>
            <a:schemeClr val="bg2"/>
          </a:solidFill>
          <a:ln/>
        </p:spPr>
      </p:sp>
      <p:sp>
        <p:nvSpPr>
          <p:cNvPr id="25" name="Shape 17"/>
          <p:cNvSpPr/>
          <p:nvPr/>
        </p:nvSpPr>
        <p:spPr>
          <a:xfrm>
            <a:off x="6903720" y="1371600"/>
            <a:ext cx="502920" cy="502920"/>
          </a:xfrm>
          <a:prstGeom prst="ellipse">
            <a:avLst/>
          </a:prstGeom>
          <a:solidFill>
            <a:schemeClr val="accent5"/>
          </a:solidFill>
          <a:ln/>
        </p:spPr>
      </p:sp>
      <p:pic>
        <p:nvPicPr>
          <p:cNvPr id="26" name="Image 6" descr="preencoded.png">    </p:cNvPr>
          <p:cNvPicPr>
            <a:picLocks noChangeAspect="1"/>
          </p:cNvPicPr>
          <p:nvPr/>
        </p:nvPicPr>
        <p:blipFill>
          <a:blip r:embed="rId7"/>
          <a:stretch>
            <a:fillRect/>
          </a:stretch>
        </p:blipFill>
        <p:spPr>
          <a:xfrm>
            <a:off x="7029450" y="1497330"/>
            <a:ext cx="251460" cy="251460"/>
          </a:xfrm>
          <a:prstGeom prst="rect">
            <a:avLst/>
          </a:prstGeom>
        </p:spPr>
      </p:pic>
      <p:sp>
        <p:nvSpPr>
          <p:cNvPr id="27" name="Shape 18"/>
          <p:cNvSpPr/>
          <p:nvPr/>
        </p:nvSpPr>
        <p:spPr>
          <a:xfrm>
            <a:off x="8211312" y="1371600"/>
            <a:ext cx="219456" cy="219456"/>
          </a:xfrm>
          <a:prstGeom prst="ellipse">
            <a:avLst/>
          </a:prstGeom>
          <a:solidFill>
            <a:schemeClr val="accent1"/>
          </a:solidFill>
          <a:ln/>
        </p:spPr>
      </p:sp>
      <p:pic>
        <p:nvPicPr>
          <p:cNvPr id="28" name="Image 7" descr="preencoded.png">    </p:cNvPr>
          <p:cNvPicPr>
            <a:picLocks noChangeAspect="1"/>
          </p:cNvPicPr>
          <p:nvPr/>
        </p:nvPicPr>
        <p:blipFill>
          <a:blip r:embed="rId8"/>
          <a:stretch>
            <a:fillRect/>
          </a:stretch>
        </p:blipFill>
        <p:spPr>
          <a:xfrm>
            <a:off x="8255203" y="1415491"/>
            <a:ext cx="131674" cy="131674"/>
          </a:xfrm>
          <a:prstGeom prst="rect">
            <a:avLst/>
          </a:prstGeom>
        </p:spPr>
      </p:pic>
      <p:sp>
        <p:nvSpPr>
          <p:cNvPr id="29" name="Text 19"/>
          <p:cNvSpPr txBox="1"/>
          <p:nvPr/>
        </p:nvSpPr>
        <p:spPr>
          <a:xfrm>
            <a:off x="6903720" y="1965960"/>
            <a:ext cx="1600200" cy="256032"/>
          </a:xfrm>
          <a:prstGeom prst="rect">
            <a:avLst/>
          </a:prstGeom>
          <a:noFill/>
          <a:ln/>
        </p:spPr>
        <p:txBody>
          <a:bodyPr wrap="square" lIns="0" tIns="0" rIns="0" bIns="0" rtlCol="0" anchor="t"/>
          <a:lstStyle/>
          <a:p>
            <a:pPr indent="0" marL="0">
              <a:buNone/>
            </a:pPr>
            <a:r>
              <a:rPr lang="en-US" sz="1600" b="1" dirty="0">
                <a:solidFill>
                  <a:schemeClr val="tx1"/>
                </a:solidFill>
              </a:rPr>
              <a:t>Multi-device</a:t>
            </a:r>
            <a:endParaRPr lang="en-US" sz="1600" dirty="0"/>
          </a:p>
        </p:txBody>
      </p:sp>
      <p:sp>
        <p:nvSpPr>
          <p:cNvPr id="30" name="Text 20"/>
          <p:cNvSpPr txBox="1"/>
          <p:nvPr/>
        </p:nvSpPr>
        <p:spPr>
          <a:xfrm>
            <a:off x="6903720" y="2194560"/>
            <a:ext cx="1645920" cy="228600"/>
          </a:xfrm>
          <a:prstGeom prst="rect">
            <a:avLst/>
          </a:prstGeom>
          <a:noFill/>
          <a:ln/>
        </p:spPr>
        <p:txBody>
          <a:bodyPr wrap="square" lIns="0" tIns="0" rIns="0" bIns="0" rtlCol="0" anchor="t"/>
          <a:lstStyle/>
          <a:p>
            <a:pPr indent="0" marL="0">
              <a:buNone/>
            </a:pPr>
            <a:r>
              <a:rPr lang="en-US" sz="1200" dirty="0">
                <a:solidFill>
                  <a:schemeClr val="tx2"/>
                </a:solidFill>
              </a:rPr>
              <a:t>Add by QR, remove lost</a:t>
            </a:r>
            <a:endParaRPr lang="en-US" sz="1200" dirty="0"/>
          </a:p>
        </p:txBody>
      </p:sp>
      <p:sp>
        <p:nvSpPr>
          <p:cNvPr id="31" name="req card 5"/>
          <p:cNvSpPr/>
          <p:nvPr/>
        </p:nvSpPr>
        <p:spPr>
          <a:xfrm>
            <a:off x="548640" y="2670048"/>
            <a:ext cx="1874520" cy="1298448"/>
          </a:xfrm>
          <a:prstGeom prst="roundRect">
            <a:avLst>
              <a:gd name="adj" fmla="val 5634"/>
            </a:avLst>
          </a:prstGeom>
          <a:solidFill>
            <a:schemeClr val="bg2"/>
          </a:solidFill>
          <a:ln/>
        </p:spPr>
      </p:sp>
      <p:sp>
        <p:nvSpPr>
          <p:cNvPr id="32" name="Shape 22"/>
          <p:cNvSpPr/>
          <p:nvPr/>
        </p:nvSpPr>
        <p:spPr>
          <a:xfrm>
            <a:off x="731520" y="2852928"/>
            <a:ext cx="502920" cy="502920"/>
          </a:xfrm>
          <a:prstGeom prst="ellipse">
            <a:avLst/>
          </a:prstGeom>
          <a:solidFill>
            <a:schemeClr val="accent5"/>
          </a:solidFill>
          <a:ln/>
        </p:spPr>
      </p:sp>
      <p:pic>
        <p:nvPicPr>
          <p:cNvPr id="33" name="Image 8" descr="preencoded.png">    </p:cNvPr>
          <p:cNvPicPr>
            <a:picLocks noChangeAspect="1"/>
          </p:cNvPicPr>
          <p:nvPr/>
        </p:nvPicPr>
        <p:blipFill>
          <a:blip r:embed="rId9"/>
          <a:stretch>
            <a:fillRect/>
          </a:stretch>
        </p:blipFill>
        <p:spPr>
          <a:xfrm>
            <a:off x="857250" y="2978658"/>
            <a:ext cx="251460" cy="251460"/>
          </a:xfrm>
          <a:prstGeom prst="rect">
            <a:avLst/>
          </a:prstGeom>
        </p:spPr>
      </p:pic>
      <p:sp>
        <p:nvSpPr>
          <p:cNvPr id="34" name="Shape 23"/>
          <p:cNvSpPr/>
          <p:nvPr/>
        </p:nvSpPr>
        <p:spPr>
          <a:xfrm>
            <a:off x="2039112" y="2852928"/>
            <a:ext cx="219456" cy="219456"/>
          </a:xfrm>
          <a:prstGeom prst="ellipse">
            <a:avLst/>
          </a:prstGeom>
          <a:solidFill>
            <a:schemeClr val="accent1"/>
          </a:solidFill>
          <a:ln/>
        </p:spPr>
      </p:sp>
      <p:pic>
        <p:nvPicPr>
          <p:cNvPr id="35" name="Image 9" descr="preencoded.png">    </p:cNvPr>
          <p:cNvPicPr>
            <a:picLocks noChangeAspect="1"/>
          </p:cNvPicPr>
          <p:nvPr/>
        </p:nvPicPr>
        <p:blipFill>
          <a:blip r:embed="rId10"/>
          <a:stretch>
            <a:fillRect/>
          </a:stretch>
        </p:blipFill>
        <p:spPr>
          <a:xfrm>
            <a:off x="2083003" y="2896819"/>
            <a:ext cx="131674" cy="131674"/>
          </a:xfrm>
          <a:prstGeom prst="rect">
            <a:avLst/>
          </a:prstGeom>
        </p:spPr>
      </p:pic>
      <p:sp>
        <p:nvSpPr>
          <p:cNvPr id="36" name="Text 24"/>
          <p:cNvSpPr txBox="1"/>
          <p:nvPr/>
        </p:nvSpPr>
        <p:spPr>
          <a:xfrm>
            <a:off x="731520" y="3447288"/>
            <a:ext cx="1600200" cy="256032"/>
          </a:xfrm>
          <a:prstGeom prst="rect">
            <a:avLst/>
          </a:prstGeom>
          <a:noFill/>
          <a:ln/>
        </p:spPr>
        <p:txBody>
          <a:bodyPr wrap="square" lIns="0" tIns="0" rIns="0" bIns="0" rtlCol="0" anchor="t"/>
          <a:lstStyle/>
          <a:p>
            <a:pPr indent="0" marL="0">
              <a:buNone/>
            </a:pPr>
            <a:r>
              <a:rPr lang="en-US" sz="1600" b="1" dirty="0">
                <a:solidFill>
                  <a:schemeClr val="tx1"/>
                </a:solidFill>
              </a:rPr>
              <a:t>Risk check</a:t>
            </a:r>
            <a:endParaRPr lang="en-US" sz="1600" dirty="0"/>
          </a:p>
        </p:txBody>
      </p:sp>
      <p:sp>
        <p:nvSpPr>
          <p:cNvPr id="37" name="Text 25"/>
          <p:cNvSpPr txBox="1"/>
          <p:nvPr/>
        </p:nvSpPr>
        <p:spPr>
          <a:xfrm>
            <a:off x="731520" y="3675888"/>
            <a:ext cx="1645920" cy="228600"/>
          </a:xfrm>
          <a:prstGeom prst="rect">
            <a:avLst/>
          </a:prstGeom>
          <a:noFill/>
          <a:ln/>
        </p:spPr>
        <p:txBody>
          <a:bodyPr wrap="square" lIns="0" tIns="0" rIns="0" bIns="0" rtlCol="0" anchor="t"/>
          <a:lstStyle/>
          <a:p>
            <a:pPr indent="0" marL="0">
              <a:buNone/>
            </a:pPr>
            <a:r>
              <a:rPr lang="en-US" sz="1200" dirty="0">
                <a:solidFill>
                  <a:schemeClr val="tx2"/>
                </a:solidFill>
              </a:rPr>
              <a:t>Odd login? Extra check</a:t>
            </a:r>
            <a:endParaRPr lang="en-US" sz="1200" dirty="0"/>
          </a:p>
        </p:txBody>
      </p:sp>
      <p:sp>
        <p:nvSpPr>
          <p:cNvPr id="38" name="req card 6"/>
          <p:cNvSpPr/>
          <p:nvPr/>
        </p:nvSpPr>
        <p:spPr>
          <a:xfrm>
            <a:off x="2606040" y="2670048"/>
            <a:ext cx="1874520" cy="1298448"/>
          </a:xfrm>
          <a:prstGeom prst="roundRect">
            <a:avLst>
              <a:gd name="adj" fmla="val 5634"/>
            </a:avLst>
          </a:prstGeom>
          <a:solidFill>
            <a:schemeClr val="bg2"/>
          </a:solidFill>
          <a:ln/>
        </p:spPr>
      </p:sp>
      <p:sp>
        <p:nvSpPr>
          <p:cNvPr id="39" name="Shape 27"/>
          <p:cNvSpPr/>
          <p:nvPr/>
        </p:nvSpPr>
        <p:spPr>
          <a:xfrm>
            <a:off x="2788920" y="2852928"/>
            <a:ext cx="502920" cy="502920"/>
          </a:xfrm>
          <a:prstGeom prst="ellipse">
            <a:avLst/>
          </a:prstGeom>
          <a:solidFill>
            <a:schemeClr val="accent5"/>
          </a:solidFill>
          <a:ln/>
        </p:spPr>
      </p:sp>
      <p:pic>
        <p:nvPicPr>
          <p:cNvPr id="40" name="Image 10" descr="preencoded.png">    </p:cNvPr>
          <p:cNvPicPr>
            <a:picLocks noChangeAspect="1"/>
          </p:cNvPicPr>
          <p:nvPr/>
        </p:nvPicPr>
        <p:blipFill>
          <a:blip r:embed="rId11"/>
          <a:stretch>
            <a:fillRect/>
          </a:stretch>
        </p:blipFill>
        <p:spPr>
          <a:xfrm>
            <a:off x="2914650" y="2978658"/>
            <a:ext cx="251460" cy="251460"/>
          </a:xfrm>
          <a:prstGeom prst="rect">
            <a:avLst/>
          </a:prstGeom>
        </p:spPr>
      </p:pic>
      <p:sp>
        <p:nvSpPr>
          <p:cNvPr id="41" name="Shape 28"/>
          <p:cNvSpPr/>
          <p:nvPr/>
        </p:nvSpPr>
        <p:spPr>
          <a:xfrm>
            <a:off x="4096512" y="2852928"/>
            <a:ext cx="219456" cy="219456"/>
          </a:xfrm>
          <a:prstGeom prst="ellipse">
            <a:avLst/>
          </a:prstGeom>
          <a:solidFill>
            <a:schemeClr val="accent1"/>
          </a:solidFill>
          <a:ln/>
        </p:spPr>
      </p:sp>
      <p:pic>
        <p:nvPicPr>
          <p:cNvPr id="42" name="Image 11" descr="preencoded.png">    </p:cNvPr>
          <p:cNvPicPr>
            <a:picLocks noChangeAspect="1"/>
          </p:cNvPicPr>
          <p:nvPr/>
        </p:nvPicPr>
        <p:blipFill>
          <a:blip r:embed="rId12"/>
          <a:stretch>
            <a:fillRect/>
          </a:stretch>
        </p:blipFill>
        <p:spPr>
          <a:xfrm>
            <a:off x="4140403" y="2896819"/>
            <a:ext cx="131674" cy="131674"/>
          </a:xfrm>
          <a:prstGeom prst="rect">
            <a:avLst/>
          </a:prstGeom>
        </p:spPr>
      </p:pic>
      <p:sp>
        <p:nvSpPr>
          <p:cNvPr id="43" name="Text 29"/>
          <p:cNvSpPr txBox="1"/>
          <p:nvPr/>
        </p:nvSpPr>
        <p:spPr>
          <a:xfrm>
            <a:off x="2788920" y="3447288"/>
            <a:ext cx="1600200" cy="256032"/>
          </a:xfrm>
          <a:prstGeom prst="rect">
            <a:avLst/>
          </a:prstGeom>
          <a:noFill/>
          <a:ln/>
        </p:spPr>
        <p:txBody>
          <a:bodyPr wrap="square" lIns="0" tIns="0" rIns="0" bIns="0" rtlCol="0" anchor="t"/>
          <a:lstStyle/>
          <a:p>
            <a:pPr indent="0" marL="0">
              <a:buNone/>
            </a:pPr>
            <a:r>
              <a:rPr lang="en-US" sz="1600" b="1" dirty="0">
                <a:solidFill>
                  <a:schemeClr val="tx1"/>
                </a:solidFill>
              </a:rPr>
              <a:t>Inclusive</a:t>
            </a:r>
            <a:endParaRPr lang="en-US" sz="1600" dirty="0"/>
          </a:p>
        </p:txBody>
      </p:sp>
      <p:sp>
        <p:nvSpPr>
          <p:cNvPr id="44" name="Text 30"/>
          <p:cNvSpPr txBox="1"/>
          <p:nvPr/>
        </p:nvSpPr>
        <p:spPr>
          <a:xfrm>
            <a:off x="2788920" y="3675888"/>
            <a:ext cx="1645920" cy="228600"/>
          </a:xfrm>
          <a:prstGeom prst="rect">
            <a:avLst/>
          </a:prstGeom>
          <a:noFill/>
          <a:ln/>
        </p:spPr>
        <p:txBody>
          <a:bodyPr wrap="square" lIns="0" tIns="0" rIns="0" bIns="0" rtlCol="0" anchor="t"/>
          <a:lstStyle/>
          <a:p>
            <a:pPr indent="0" marL="0">
              <a:buNone/>
            </a:pPr>
            <a:r>
              <a:rPr lang="en-US" sz="1200" dirty="0">
                <a:solidFill>
                  <a:schemeClr val="tx2"/>
                </a:solidFill>
              </a:rPr>
              <a:t>Voice, QR, security keys</a:t>
            </a:r>
            <a:endParaRPr lang="en-US" sz="1200" dirty="0"/>
          </a:p>
        </p:txBody>
      </p:sp>
      <p:sp>
        <p:nvSpPr>
          <p:cNvPr id="45" name="req card 7"/>
          <p:cNvSpPr/>
          <p:nvPr/>
        </p:nvSpPr>
        <p:spPr>
          <a:xfrm>
            <a:off x="4663440" y="2670048"/>
            <a:ext cx="1874520" cy="1298448"/>
          </a:xfrm>
          <a:prstGeom prst="roundRect">
            <a:avLst>
              <a:gd name="adj" fmla="val 5634"/>
            </a:avLst>
          </a:prstGeom>
          <a:solidFill>
            <a:schemeClr val="bg2"/>
          </a:solidFill>
          <a:ln/>
        </p:spPr>
      </p:sp>
      <p:sp>
        <p:nvSpPr>
          <p:cNvPr id="46" name="Shape 32"/>
          <p:cNvSpPr/>
          <p:nvPr/>
        </p:nvSpPr>
        <p:spPr>
          <a:xfrm>
            <a:off x="4846320" y="2852928"/>
            <a:ext cx="502920" cy="502920"/>
          </a:xfrm>
          <a:prstGeom prst="ellipse">
            <a:avLst/>
          </a:prstGeom>
          <a:solidFill>
            <a:schemeClr val="accent5"/>
          </a:solidFill>
          <a:ln/>
        </p:spPr>
      </p:sp>
      <p:pic>
        <p:nvPicPr>
          <p:cNvPr id="47" name="Image 12" descr="preencoded.png">    </p:cNvPr>
          <p:cNvPicPr>
            <a:picLocks noChangeAspect="1"/>
          </p:cNvPicPr>
          <p:nvPr/>
        </p:nvPicPr>
        <p:blipFill>
          <a:blip r:embed="rId13"/>
          <a:stretch>
            <a:fillRect/>
          </a:stretch>
        </p:blipFill>
        <p:spPr>
          <a:xfrm>
            <a:off x="4972050" y="2978658"/>
            <a:ext cx="251460" cy="251460"/>
          </a:xfrm>
          <a:prstGeom prst="rect">
            <a:avLst/>
          </a:prstGeom>
        </p:spPr>
      </p:pic>
      <p:sp>
        <p:nvSpPr>
          <p:cNvPr id="48" name="Shape 33"/>
          <p:cNvSpPr/>
          <p:nvPr/>
        </p:nvSpPr>
        <p:spPr>
          <a:xfrm>
            <a:off x="6153912" y="2852928"/>
            <a:ext cx="219456" cy="219456"/>
          </a:xfrm>
          <a:prstGeom prst="ellipse">
            <a:avLst/>
          </a:prstGeom>
          <a:solidFill>
            <a:schemeClr val="accent1"/>
          </a:solidFill>
          <a:ln/>
        </p:spPr>
      </p:sp>
      <p:pic>
        <p:nvPicPr>
          <p:cNvPr id="49" name="Image 13" descr="preencoded.png">    </p:cNvPr>
          <p:cNvPicPr>
            <a:picLocks noChangeAspect="1"/>
          </p:cNvPicPr>
          <p:nvPr/>
        </p:nvPicPr>
        <p:blipFill>
          <a:blip r:embed="rId14"/>
          <a:stretch>
            <a:fillRect/>
          </a:stretch>
        </p:blipFill>
        <p:spPr>
          <a:xfrm>
            <a:off x="6197803" y="2896819"/>
            <a:ext cx="131674" cy="131674"/>
          </a:xfrm>
          <a:prstGeom prst="rect">
            <a:avLst/>
          </a:prstGeom>
        </p:spPr>
      </p:pic>
      <p:sp>
        <p:nvSpPr>
          <p:cNvPr id="50" name="Text 34"/>
          <p:cNvSpPr txBox="1"/>
          <p:nvPr/>
        </p:nvSpPr>
        <p:spPr>
          <a:xfrm>
            <a:off x="4846320" y="3447288"/>
            <a:ext cx="1600200" cy="256032"/>
          </a:xfrm>
          <a:prstGeom prst="rect">
            <a:avLst/>
          </a:prstGeom>
          <a:noFill/>
          <a:ln/>
        </p:spPr>
        <p:txBody>
          <a:bodyPr wrap="square" lIns="0" tIns="0" rIns="0" bIns="0" rtlCol="0" anchor="t"/>
          <a:lstStyle/>
          <a:p>
            <a:pPr indent="0" marL="0">
              <a:buNone/>
            </a:pPr>
            <a:r>
              <a:rPr lang="en-US" sz="1600" b="1" dirty="0">
                <a:solidFill>
                  <a:schemeClr val="tx1"/>
                </a:solidFill>
              </a:rPr>
              <a:t>Admin view</a:t>
            </a:r>
            <a:endParaRPr lang="en-US" sz="1600" dirty="0"/>
          </a:p>
        </p:txBody>
      </p:sp>
      <p:sp>
        <p:nvSpPr>
          <p:cNvPr id="51" name="Text 35"/>
          <p:cNvSpPr txBox="1"/>
          <p:nvPr/>
        </p:nvSpPr>
        <p:spPr>
          <a:xfrm>
            <a:off x="4846320" y="3675888"/>
            <a:ext cx="1645920" cy="228600"/>
          </a:xfrm>
          <a:prstGeom prst="rect">
            <a:avLst/>
          </a:prstGeom>
          <a:noFill/>
          <a:ln/>
        </p:spPr>
        <p:txBody>
          <a:bodyPr wrap="square" lIns="0" tIns="0" rIns="0" bIns="0" rtlCol="0" anchor="t"/>
          <a:lstStyle/>
          <a:p>
            <a:pPr indent="0" marL="0">
              <a:buNone/>
            </a:pPr>
            <a:r>
              <a:rPr lang="en-US" sz="1200" dirty="0">
                <a:solidFill>
                  <a:schemeClr val="tx2"/>
                </a:solidFill>
              </a:rPr>
              <a:t>Devices, logins, revoked</a:t>
            </a:r>
            <a:endParaRPr lang="en-US" sz="1200" dirty="0"/>
          </a:p>
        </p:txBody>
      </p:sp>
      <p:sp>
        <p:nvSpPr>
          <p:cNvPr id="52" name="req card 8"/>
          <p:cNvSpPr/>
          <p:nvPr/>
        </p:nvSpPr>
        <p:spPr>
          <a:xfrm>
            <a:off x="6720840" y="2670048"/>
            <a:ext cx="1874520" cy="1298448"/>
          </a:xfrm>
          <a:prstGeom prst="roundRect">
            <a:avLst>
              <a:gd name="adj" fmla="val 5634"/>
            </a:avLst>
          </a:prstGeom>
          <a:solidFill>
            <a:schemeClr val="accent1"/>
          </a:solidFill>
          <a:ln/>
        </p:spPr>
      </p:sp>
      <p:sp>
        <p:nvSpPr>
          <p:cNvPr id="53" name="Shape 37"/>
          <p:cNvSpPr/>
          <p:nvPr/>
        </p:nvSpPr>
        <p:spPr>
          <a:xfrm>
            <a:off x="6903720" y="2852928"/>
            <a:ext cx="502920" cy="502920"/>
          </a:xfrm>
          <a:prstGeom prst="ellipse">
            <a:avLst/>
          </a:prstGeom>
          <a:solidFill>
            <a:schemeClr val="bg1"/>
          </a:solidFill>
          <a:ln/>
        </p:spPr>
      </p:sp>
      <p:pic>
        <p:nvPicPr>
          <p:cNvPr id="54" name="Image 14" descr="preencoded.png">    </p:cNvPr>
          <p:cNvPicPr>
            <a:picLocks noChangeAspect="1"/>
          </p:cNvPicPr>
          <p:nvPr/>
        </p:nvPicPr>
        <p:blipFill>
          <a:blip r:embed="rId15"/>
          <a:stretch>
            <a:fillRect/>
          </a:stretch>
        </p:blipFill>
        <p:spPr>
          <a:xfrm>
            <a:off x="7029450" y="2978658"/>
            <a:ext cx="251460" cy="251460"/>
          </a:xfrm>
          <a:prstGeom prst="rect">
            <a:avLst/>
          </a:prstGeom>
        </p:spPr>
      </p:pic>
      <p:sp>
        <p:nvSpPr>
          <p:cNvPr id="55" name="Text 38"/>
          <p:cNvSpPr txBox="1"/>
          <p:nvPr/>
        </p:nvSpPr>
        <p:spPr>
          <a:xfrm>
            <a:off x="6903720" y="3447288"/>
            <a:ext cx="1600200" cy="256032"/>
          </a:xfrm>
          <a:prstGeom prst="rect">
            <a:avLst/>
          </a:prstGeom>
          <a:noFill/>
          <a:ln/>
        </p:spPr>
        <p:txBody>
          <a:bodyPr wrap="square" lIns="0" tIns="0" rIns="0" bIns="0" rtlCol="0" anchor="t"/>
          <a:lstStyle/>
          <a:p>
            <a:pPr indent="0" marL="0">
              <a:buNone/>
            </a:pPr>
            <a:r>
              <a:rPr lang="en-US" sz="1600" b="1" dirty="0">
                <a:solidFill>
                  <a:schemeClr val="bg1"/>
                </a:solidFill>
              </a:rPr>
              <a:t>Our USP</a:t>
            </a:r>
            <a:endParaRPr lang="en-US" sz="1600" dirty="0"/>
          </a:p>
        </p:txBody>
      </p:sp>
      <p:sp>
        <p:nvSpPr>
          <p:cNvPr id="56" name="Text 39"/>
          <p:cNvSpPr txBox="1"/>
          <p:nvPr/>
        </p:nvSpPr>
        <p:spPr>
          <a:xfrm>
            <a:off x="6903720" y="3675888"/>
            <a:ext cx="1645920" cy="228600"/>
          </a:xfrm>
          <a:prstGeom prst="rect">
            <a:avLst/>
          </a:prstGeom>
          <a:noFill/>
          <a:ln/>
        </p:spPr>
        <p:txBody>
          <a:bodyPr wrap="square" lIns="0" tIns="0" rIns="0" bIns="0" rtlCol="0" anchor="t"/>
          <a:lstStyle/>
          <a:p>
            <a:pPr indent="0" marL="0">
              <a:buNone/>
            </a:pPr>
            <a:r>
              <a:rPr lang="en-US" sz="1200" dirty="0">
                <a:solidFill>
                  <a:schemeClr val="accent5"/>
                </a:solidFill>
              </a:rPr>
              <a:t>Live face + your hand sign</a:t>
            </a:r>
            <a:endParaRPr lang="en-US" sz="1200" dirty="0"/>
          </a:p>
        </p:txBody>
      </p:sp>
      <p:sp>
        <p:nvSpPr>
          <p:cNvPr id="57" name="Text 40"/>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500" i="1" dirty="0">
                <a:solidFill>
                  <a:schemeClr val="accent1"/>
                </a:solidFill>
              </a:rPr>
              <a:t>Plus all three deliverables: the end-to-end app, a live phishing demo and a written threat model.</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The demo in six steps</a:t>
            </a:r>
            <a:endParaRPr lang="en-US" sz="3000" dirty="0"/>
          </a:p>
        </p:txBody>
      </p:sp>
      <p:sp>
        <p:nvSpPr>
          <p:cNvPr id="3" name="Shape 1"/>
          <p:cNvSpPr/>
          <p:nvPr/>
        </p:nvSpPr>
        <p:spPr>
          <a:xfrm>
            <a:off x="1394460" y="2080260"/>
            <a:ext cx="6766560" cy="0"/>
          </a:xfrm>
          <a:prstGeom prst="line">
            <a:avLst/>
          </a:prstGeom>
          <a:noFill/>
          <a:ln w="38100">
            <a:solidFill>
              <a:srgbClr val="D5EDE9"/>
            </a:solidFill>
            <a:prstDash val="solid"/>
          </a:ln>
        </p:spPr>
      </p:sp>
      <p:sp>
        <p:nvSpPr>
          <p:cNvPr id="4" name="step 1 circle"/>
          <p:cNvSpPr/>
          <p:nvPr/>
        </p:nvSpPr>
        <p:spPr>
          <a:xfrm>
            <a:off x="960120" y="1645920"/>
            <a:ext cx="868680" cy="868680"/>
          </a:xfrm>
          <a:prstGeom prst="ellipse">
            <a:avLst/>
          </a:prstGeom>
          <a:solidFill>
            <a:schemeClr val="accent5"/>
          </a:solidFill>
          <a:ln/>
        </p:spPr>
      </p:sp>
      <p:pic>
        <p:nvPicPr>
          <p:cNvPr id="5" name="step 1 icon" descr="preencoded.png">    </p:cNvPr>
          <p:cNvPicPr>
            <a:picLocks noChangeAspect="1"/>
          </p:cNvPicPr>
          <p:nvPr/>
        </p:nvPicPr>
        <p:blipFill>
          <a:blip r:embed="rId1"/>
          <a:stretch>
            <a:fillRect/>
          </a:stretch>
        </p:blipFill>
        <p:spPr>
          <a:xfrm>
            <a:off x="1185977" y="1871777"/>
            <a:ext cx="416966" cy="416966"/>
          </a:xfrm>
          <a:prstGeom prst="rect">
            <a:avLst/>
          </a:prstGeom>
        </p:spPr>
      </p:pic>
      <p:sp>
        <p:nvSpPr>
          <p:cNvPr id="6" name="Shape 3"/>
          <p:cNvSpPr/>
          <p:nvPr/>
        </p:nvSpPr>
        <p:spPr>
          <a:xfrm>
            <a:off x="1572768" y="1600200"/>
            <a:ext cx="274320" cy="274320"/>
          </a:xfrm>
          <a:prstGeom prst="roundRect">
            <a:avLst>
              <a:gd name="adj" fmla="val 50000"/>
            </a:avLst>
          </a:prstGeom>
          <a:solidFill>
            <a:schemeClr val="tx1"/>
          </a:solidFill>
          <a:ln/>
        </p:spPr>
      </p:sp>
      <p:sp>
        <p:nvSpPr>
          <p:cNvPr id="7" name="Text 4"/>
          <p:cNvSpPr txBox="1"/>
          <p:nvPr/>
        </p:nvSpPr>
        <p:spPr>
          <a:xfrm>
            <a:off x="1572768" y="160020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754380" y="2697480"/>
            <a:ext cx="1280160" cy="292608"/>
          </a:xfrm>
          <a:prstGeom prst="rect">
            <a:avLst/>
          </a:prstGeom>
          <a:noFill/>
          <a:ln/>
        </p:spPr>
        <p:txBody>
          <a:bodyPr wrap="square" lIns="0" tIns="0" rIns="0" bIns="0" rtlCol="0" anchor="t"/>
          <a:lstStyle/>
          <a:p>
            <a:pPr algn="ctr" indent="0" marL="0">
              <a:buNone/>
            </a:pPr>
            <a:r>
              <a:rPr lang="en-US" sz="1600" b="1" dirty="0">
                <a:solidFill>
                  <a:schemeClr val="tx1"/>
                </a:solidFill>
              </a:rPr>
              <a:t>Sign up</a:t>
            </a:r>
            <a:endParaRPr lang="en-US" sz="1600" dirty="0"/>
          </a:p>
        </p:txBody>
      </p:sp>
      <p:sp>
        <p:nvSpPr>
          <p:cNvPr id="9" name="Text 6"/>
          <p:cNvSpPr txBox="1"/>
          <p:nvPr/>
        </p:nvSpPr>
        <p:spPr>
          <a:xfrm>
            <a:off x="772668" y="2990088"/>
            <a:ext cx="1243584" cy="457200"/>
          </a:xfrm>
          <a:prstGeom prst="rect">
            <a:avLst/>
          </a:prstGeom>
          <a:noFill/>
          <a:ln/>
        </p:spPr>
        <p:txBody>
          <a:bodyPr wrap="square" lIns="0" tIns="0" rIns="0" bIns="0" rtlCol="0" anchor="t"/>
          <a:lstStyle/>
          <a:p>
            <a:pPr algn="ctr" indent="0" marL="0">
              <a:buNone/>
            </a:pPr>
            <a:r>
              <a:rPr lang="en-US" sz="1200" dirty="0">
                <a:solidFill>
                  <a:schemeClr val="tx2"/>
                </a:solidFill>
              </a:rPr>
              <a:t>Passkey, face and your hand sign</a:t>
            </a:r>
            <a:endParaRPr lang="en-US" sz="1200" dirty="0"/>
          </a:p>
        </p:txBody>
      </p:sp>
      <p:sp>
        <p:nvSpPr>
          <p:cNvPr id="10" name="step 2 circle"/>
          <p:cNvSpPr/>
          <p:nvPr/>
        </p:nvSpPr>
        <p:spPr>
          <a:xfrm>
            <a:off x="2313432" y="1645920"/>
            <a:ext cx="868680" cy="868680"/>
          </a:xfrm>
          <a:prstGeom prst="ellipse">
            <a:avLst/>
          </a:prstGeom>
          <a:solidFill>
            <a:schemeClr val="accent5"/>
          </a:solidFill>
          <a:ln/>
        </p:spPr>
      </p:sp>
      <p:pic>
        <p:nvPicPr>
          <p:cNvPr id="11" name="step 2 icon" descr="preencoded.png">    </p:cNvPr>
          <p:cNvPicPr>
            <a:picLocks noChangeAspect="1"/>
          </p:cNvPicPr>
          <p:nvPr/>
        </p:nvPicPr>
        <p:blipFill>
          <a:blip r:embed="rId2"/>
          <a:stretch>
            <a:fillRect/>
          </a:stretch>
        </p:blipFill>
        <p:spPr>
          <a:xfrm>
            <a:off x="2539289" y="1871777"/>
            <a:ext cx="416966" cy="416966"/>
          </a:xfrm>
          <a:prstGeom prst="rect">
            <a:avLst/>
          </a:prstGeom>
        </p:spPr>
      </p:pic>
      <p:sp>
        <p:nvSpPr>
          <p:cNvPr id="12" name="Shape 8"/>
          <p:cNvSpPr/>
          <p:nvPr/>
        </p:nvSpPr>
        <p:spPr>
          <a:xfrm>
            <a:off x="2926080" y="1600200"/>
            <a:ext cx="274320" cy="274320"/>
          </a:xfrm>
          <a:prstGeom prst="roundRect">
            <a:avLst>
              <a:gd name="adj" fmla="val 50000"/>
            </a:avLst>
          </a:prstGeom>
          <a:solidFill>
            <a:schemeClr val="tx1"/>
          </a:solidFill>
          <a:ln/>
        </p:spPr>
      </p:sp>
      <p:sp>
        <p:nvSpPr>
          <p:cNvPr id="13" name="Text 9"/>
          <p:cNvSpPr txBox="1"/>
          <p:nvPr/>
        </p:nvSpPr>
        <p:spPr>
          <a:xfrm>
            <a:off x="2926080" y="160020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Text 10"/>
          <p:cNvSpPr txBox="1"/>
          <p:nvPr/>
        </p:nvSpPr>
        <p:spPr>
          <a:xfrm>
            <a:off x="2107692" y="2697480"/>
            <a:ext cx="1280160" cy="292608"/>
          </a:xfrm>
          <a:prstGeom prst="rect">
            <a:avLst/>
          </a:prstGeom>
          <a:noFill/>
          <a:ln/>
        </p:spPr>
        <p:txBody>
          <a:bodyPr wrap="square" lIns="0" tIns="0" rIns="0" bIns="0" rtlCol="0" anchor="t"/>
          <a:lstStyle/>
          <a:p>
            <a:pPr algn="ctr" indent="0" marL="0">
              <a:buNone/>
            </a:pPr>
            <a:r>
              <a:rPr lang="en-US" sz="1600" b="1" dirty="0">
                <a:solidFill>
                  <a:schemeClr val="tx1"/>
                </a:solidFill>
              </a:rPr>
              <a:t>Risky login</a:t>
            </a:r>
            <a:endParaRPr lang="en-US" sz="1600" dirty="0"/>
          </a:p>
        </p:txBody>
      </p:sp>
      <p:sp>
        <p:nvSpPr>
          <p:cNvPr id="15" name="Text 11"/>
          <p:cNvSpPr txBox="1"/>
          <p:nvPr/>
        </p:nvSpPr>
        <p:spPr>
          <a:xfrm>
            <a:off x="2125980" y="2990088"/>
            <a:ext cx="1243584" cy="457200"/>
          </a:xfrm>
          <a:prstGeom prst="rect">
            <a:avLst/>
          </a:prstGeom>
          <a:noFill/>
          <a:ln/>
        </p:spPr>
        <p:txBody>
          <a:bodyPr wrap="square" lIns="0" tIns="0" rIns="0" bIns="0" rtlCol="0" anchor="t"/>
          <a:lstStyle/>
          <a:p>
            <a:pPr algn="ctr" indent="0" marL="0">
              <a:buNone/>
            </a:pPr>
            <a:r>
              <a:rPr lang="en-US" sz="1200" dirty="0">
                <a:solidFill>
                  <a:schemeClr val="tx2"/>
                </a:solidFill>
              </a:rPr>
              <a:t>New country triggers a check</a:t>
            </a:r>
            <a:endParaRPr lang="en-US" sz="1200" dirty="0"/>
          </a:p>
        </p:txBody>
      </p:sp>
      <p:sp>
        <p:nvSpPr>
          <p:cNvPr id="16" name="step 3 circle"/>
          <p:cNvSpPr/>
          <p:nvPr/>
        </p:nvSpPr>
        <p:spPr>
          <a:xfrm>
            <a:off x="3666744" y="1645920"/>
            <a:ext cx="868680" cy="868680"/>
          </a:xfrm>
          <a:prstGeom prst="ellipse">
            <a:avLst/>
          </a:prstGeom>
          <a:solidFill>
            <a:schemeClr val="accent5"/>
          </a:solidFill>
          <a:ln/>
        </p:spPr>
      </p:sp>
      <p:pic>
        <p:nvPicPr>
          <p:cNvPr id="17" name="step 3 icon" descr="preencoded.png">    </p:cNvPr>
          <p:cNvPicPr>
            <a:picLocks noChangeAspect="1"/>
          </p:cNvPicPr>
          <p:nvPr/>
        </p:nvPicPr>
        <p:blipFill>
          <a:blip r:embed="rId3"/>
          <a:stretch>
            <a:fillRect/>
          </a:stretch>
        </p:blipFill>
        <p:spPr>
          <a:xfrm>
            <a:off x="3892601" y="1871777"/>
            <a:ext cx="416966" cy="416966"/>
          </a:xfrm>
          <a:prstGeom prst="rect">
            <a:avLst/>
          </a:prstGeom>
        </p:spPr>
      </p:pic>
      <p:sp>
        <p:nvSpPr>
          <p:cNvPr id="18" name="Shape 13"/>
          <p:cNvSpPr/>
          <p:nvPr/>
        </p:nvSpPr>
        <p:spPr>
          <a:xfrm>
            <a:off x="4279392" y="1600200"/>
            <a:ext cx="274320" cy="274320"/>
          </a:xfrm>
          <a:prstGeom prst="roundRect">
            <a:avLst>
              <a:gd name="adj" fmla="val 50000"/>
            </a:avLst>
          </a:prstGeom>
          <a:solidFill>
            <a:schemeClr val="tx1"/>
          </a:solidFill>
          <a:ln/>
        </p:spPr>
      </p:sp>
      <p:sp>
        <p:nvSpPr>
          <p:cNvPr id="19" name="Text 14"/>
          <p:cNvSpPr txBox="1"/>
          <p:nvPr/>
        </p:nvSpPr>
        <p:spPr>
          <a:xfrm>
            <a:off x="4279392" y="160020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0" name="Text 15"/>
          <p:cNvSpPr txBox="1"/>
          <p:nvPr/>
        </p:nvSpPr>
        <p:spPr>
          <a:xfrm>
            <a:off x="3461004" y="2697480"/>
            <a:ext cx="1280160" cy="292608"/>
          </a:xfrm>
          <a:prstGeom prst="rect">
            <a:avLst/>
          </a:prstGeom>
          <a:noFill/>
          <a:ln/>
        </p:spPr>
        <p:txBody>
          <a:bodyPr wrap="square" lIns="0" tIns="0" rIns="0" bIns="0" rtlCol="0" anchor="t"/>
          <a:lstStyle/>
          <a:p>
            <a:pPr algn="ctr" indent="0" marL="0">
              <a:buNone/>
            </a:pPr>
            <a:r>
              <a:rPr lang="en-US" sz="1600" b="1" dirty="0">
                <a:solidFill>
                  <a:schemeClr val="tx1"/>
                </a:solidFill>
              </a:rPr>
              <a:t>New device</a:t>
            </a:r>
            <a:endParaRPr lang="en-US" sz="1600" dirty="0"/>
          </a:p>
        </p:txBody>
      </p:sp>
      <p:sp>
        <p:nvSpPr>
          <p:cNvPr id="21" name="Text 16"/>
          <p:cNvSpPr txBox="1"/>
          <p:nvPr/>
        </p:nvSpPr>
        <p:spPr>
          <a:xfrm>
            <a:off x="3479292" y="2990088"/>
            <a:ext cx="1243584" cy="457200"/>
          </a:xfrm>
          <a:prstGeom prst="rect">
            <a:avLst/>
          </a:prstGeom>
          <a:noFill/>
          <a:ln/>
        </p:spPr>
        <p:txBody>
          <a:bodyPr wrap="square" lIns="0" tIns="0" rIns="0" bIns="0" rtlCol="0" anchor="t"/>
          <a:lstStyle/>
          <a:p>
            <a:pPr algn="ctr" indent="0" marL="0">
              <a:buNone/>
            </a:pPr>
            <a:r>
              <a:rPr lang="en-US" sz="1200" dirty="0">
                <a:solidFill>
                  <a:schemeClr val="tx2"/>
                </a:solidFill>
              </a:rPr>
              <a:t>Scan a QR, approve, done</a:t>
            </a:r>
            <a:endParaRPr lang="en-US" sz="1200" dirty="0"/>
          </a:p>
        </p:txBody>
      </p:sp>
      <p:sp>
        <p:nvSpPr>
          <p:cNvPr id="22" name="step 4 circle"/>
          <p:cNvSpPr/>
          <p:nvPr/>
        </p:nvSpPr>
        <p:spPr>
          <a:xfrm>
            <a:off x="5020056" y="1645920"/>
            <a:ext cx="868680" cy="868680"/>
          </a:xfrm>
          <a:prstGeom prst="ellipse">
            <a:avLst/>
          </a:prstGeom>
          <a:solidFill>
            <a:schemeClr val="accent5"/>
          </a:solidFill>
          <a:ln/>
        </p:spPr>
      </p:sp>
      <p:pic>
        <p:nvPicPr>
          <p:cNvPr id="23" name="step 4 icon" descr="preencoded.png">    </p:cNvPr>
          <p:cNvPicPr>
            <a:picLocks noChangeAspect="1"/>
          </p:cNvPicPr>
          <p:nvPr/>
        </p:nvPicPr>
        <p:blipFill>
          <a:blip r:embed="rId4"/>
          <a:stretch>
            <a:fillRect/>
          </a:stretch>
        </p:blipFill>
        <p:spPr>
          <a:xfrm>
            <a:off x="5245913" y="1871777"/>
            <a:ext cx="416966" cy="416966"/>
          </a:xfrm>
          <a:prstGeom prst="rect">
            <a:avLst/>
          </a:prstGeom>
        </p:spPr>
      </p:pic>
      <p:sp>
        <p:nvSpPr>
          <p:cNvPr id="24" name="Shape 18"/>
          <p:cNvSpPr/>
          <p:nvPr/>
        </p:nvSpPr>
        <p:spPr>
          <a:xfrm>
            <a:off x="5632704" y="1600200"/>
            <a:ext cx="274320" cy="274320"/>
          </a:xfrm>
          <a:prstGeom prst="roundRect">
            <a:avLst>
              <a:gd name="adj" fmla="val 50000"/>
            </a:avLst>
          </a:prstGeom>
          <a:solidFill>
            <a:schemeClr val="tx1"/>
          </a:solidFill>
          <a:ln/>
        </p:spPr>
      </p:sp>
      <p:sp>
        <p:nvSpPr>
          <p:cNvPr id="25" name="Text 19"/>
          <p:cNvSpPr txBox="1"/>
          <p:nvPr/>
        </p:nvSpPr>
        <p:spPr>
          <a:xfrm>
            <a:off x="5632704" y="160020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6" name="Text 20"/>
          <p:cNvSpPr txBox="1"/>
          <p:nvPr/>
        </p:nvSpPr>
        <p:spPr>
          <a:xfrm>
            <a:off x="4814316" y="2697480"/>
            <a:ext cx="1280160" cy="292608"/>
          </a:xfrm>
          <a:prstGeom prst="rect">
            <a:avLst/>
          </a:prstGeom>
          <a:noFill/>
          <a:ln/>
        </p:spPr>
        <p:txBody>
          <a:bodyPr wrap="square" lIns="0" tIns="0" rIns="0" bIns="0" rtlCol="0" anchor="t"/>
          <a:lstStyle/>
          <a:p>
            <a:pPr algn="ctr" indent="0" marL="0">
              <a:buNone/>
            </a:pPr>
            <a:r>
              <a:rPr lang="en-US" sz="1600" b="1" dirty="0">
                <a:solidFill>
                  <a:schemeClr val="tx1"/>
                </a:solidFill>
              </a:rPr>
              <a:t>Phishing</a:t>
            </a:r>
            <a:endParaRPr lang="en-US" sz="1600" dirty="0"/>
          </a:p>
        </p:txBody>
      </p:sp>
      <p:sp>
        <p:nvSpPr>
          <p:cNvPr id="27" name="Text 21"/>
          <p:cNvSpPr txBox="1"/>
          <p:nvPr/>
        </p:nvSpPr>
        <p:spPr>
          <a:xfrm>
            <a:off x="4832604" y="2990088"/>
            <a:ext cx="1243584" cy="457200"/>
          </a:xfrm>
          <a:prstGeom prst="rect">
            <a:avLst/>
          </a:prstGeom>
          <a:noFill/>
          <a:ln/>
        </p:spPr>
        <p:txBody>
          <a:bodyPr wrap="square" lIns="0" tIns="0" rIns="0" bIns="0" rtlCol="0" anchor="t"/>
          <a:lstStyle/>
          <a:p>
            <a:pPr algn="ctr" indent="0" marL="0">
              <a:buNone/>
            </a:pPr>
            <a:r>
              <a:rPr lang="en-US" sz="1200" dirty="0">
                <a:solidFill>
                  <a:schemeClr val="tx2"/>
                </a:solidFill>
              </a:rPr>
              <a:t>Every attack fails</a:t>
            </a:r>
            <a:endParaRPr lang="en-US" sz="1200" dirty="0"/>
          </a:p>
        </p:txBody>
      </p:sp>
      <p:sp>
        <p:nvSpPr>
          <p:cNvPr id="28" name="step 5 circle"/>
          <p:cNvSpPr/>
          <p:nvPr/>
        </p:nvSpPr>
        <p:spPr>
          <a:xfrm>
            <a:off x="6373368" y="1645920"/>
            <a:ext cx="868680" cy="868680"/>
          </a:xfrm>
          <a:prstGeom prst="ellipse">
            <a:avLst/>
          </a:prstGeom>
          <a:solidFill>
            <a:schemeClr val="accent5"/>
          </a:solidFill>
          <a:ln/>
        </p:spPr>
      </p:sp>
      <p:pic>
        <p:nvPicPr>
          <p:cNvPr id="29" name="step 5 icon" descr="preencoded.png">    </p:cNvPr>
          <p:cNvPicPr>
            <a:picLocks noChangeAspect="1"/>
          </p:cNvPicPr>
          <p:nvPr/>
        </p:nvPicPr>
        <p:blipFill>
          <a:blip r:embed="rId5"/>
          <a:stretch>
            <a:fillRect/>
          </a:stretch>
        </p:blipFill>
        <p:spPr>
          <a:xfrm>
            <a:off x="6599225" y="1871777"/>
            <a:ext cx="416966" cy="416966"/>
          </a:xfrm>
          <a:prstGeom prst="rect">
            <a:avLst/>
          </a:prstGeom>
        </p:spPr>
      </p:pic>
      <p:sp>
        <p:nvSpPr>
          <p:cNvPr id="30" name="Shape 23"/>
          <p:cNvSpPr/>
          <p:nvPr/>
        </p:nvSpPr>
        <p:spPr>
          <a:xfrm>
            <a:off x="6986016" y="1600200"/>
            <a:ext cx="274320" cy="274320"/>
          </a:xfrm>
          <a:prstGeom prst="roundRect">
            <a:avLst>
              <a:gd name="adj" fmla="val 50000"/>
            </a:avLst>
          </a:prstGeom>
          <a:solidFill>
            <a:schemeClr val="tx1"/>
          </a:solidFill>
          <a:ln/>
        </p:spPr>
      </p:sp>
      <p:sp>
        <p:nvSpPr>
          <p:cNvPr id="31" name="Text 24"/>
          <p:cNvSpPr txBox="1"/>
          <p:nvPr/>
        </p:nvSpPr>
        <p:spPr>
          <a:xfrm>
            <a:off x="6986016" y="160020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2" name="Text 25"/>
          <p:cNvSpPr txBox="1"/>
          <p:nvPr/>
        </p:nvSpPr>
        <p:spPr>
          <a:xfrm>
            <a:off x="6167628" y="2697480"/>
            <a:ext cx="1280160" cy="292608"/>
          </a:xfrm>
          <a:prstGeom prst="rect">
            <a:avLst/>
          </a:prstGeom>
          <a:noFill/>
          <a:ln/>
        </p:spPr>
        <p:txBody>
          <a:bodyPr wrap="square" lIns="0" tIns="0" rIns="0" bIns="0" rtlCol="0" anchor="t"/>
          <a:lstStyle/>
          <a:p>
            <a:pPr algn="ctr" indent="0" marL="0">
              <a:buNone/>
            </a:pPr>
            <a:r>
              <a:rPr lang="en-US" sz="1600" b="1" dirty="0">
                <a:solidFill>
                  <a:schemeClr val="tx1"/>
                </a:solidFill>
              </a:rPr>
              <a:t>Recovery</a:t>
            </a:r>
            <a:endParaRPr lang="en-US" sz="1600" dirty="0"/>
          </a:p>
        </p:txBody>
      </p:sp>
      <p:sp>
        <p:nvSpPr>
          <p:cNvPr id="33" name="Text 26"/>
          <p:cNvSpPr txBox="1"/>
          <p:nvPr/>
        </p:nvSpPr>
        <p:spPr>
          <a:xfrm>
            <a:off x="6185916" y="2990088"/>
            <a:ext cx="1243584" cy="457200"/>
          </a:xfrm>
          <a:prstGeom prst="rect">
            <a:avLst/>
          </a:prstGeom>
          <a:noFill/>
          <a:ln/>
        </p:spPr>
        <p:txBody>
          <a:bodyPr wrap="square" lIns="0" tIns="0" rIns="0" bIns="0" rtlCol="0" anchor="t"/>
          <a:lstStyle/>
          <a:p>
            <a:pPr algn="ctr" indent="0" marL="0">
              <a:buNone/>
            </a:pPr>
            <a:r>
              <a:rPr lang="en-US" sz="1200" dirty="0">
                <a:solidFill>
                  <a:schemeClr val="tx2"/>
                </a:solidFill>
              </a:rPr>
              <a:t>Lost phone, back in safely</a:t>
            </a:r>
            <a:endParaRPr lang="en-US" sz="1200" dirty="0"/>
          </a:p>
        </p:txBody>
      </p:sp>
      <p:sp>
        <p:nvSpPr>
          <p:cNvPr id="34" name="step 6 circle"/>
          <p:cNvSpPr/>
          <p:nvPr/>
        </p:nvSpPr>
        <p:spPr>
          <a:xfrm>
            <a:off x="7726680" y="1645920"/>
            <a:ext cx="868680" cy="868680"/>
          </a:xfrm>
          <a:prstGeom prst="ellipse">
            <a:avLst/>
          </a:prstGeom>
          <a:solidFill>
            <a:schemeClr val="accent1"/>
          </a:solidFill>
          <a:ln/>
        </p:spPr>
      </p:sp>
      <p:pic>
        <p:nvPicPr>
          <p:cNvPr id="35" name="step 6 icon" descr="preencoded.png">    </p:cNvPr>
          <p:cNvPicPr>
            <a:picLocks noChangeAspect="1"/>
          </p:cNvPicPr>
          <p:nvPr/>
        </p:nvPicPr>
        <p:blipFill>
          <a:blip r:embed="rId6"/>
          <a:stretch>
            <a:fillRect/>
          </a:stretch>
        </p:blipFill>
        <p:spPr>
          <a:xfrm>
            <a:off x="7952537" y="1871777"/>
            <a:ext cx="416966" cy="416966"/>
          </a:xfrm>
          <a:prstGeom prst="rect">
            <a:avLst/>
          </a:prstGeom>
        </p:spPr>
      </p:pic>
      <p:sp>
        <p:nvSpPr>
          <p:cNvPr id="36" name="Shape 28"/>
          <p:cNvSpPr/>
          <p:nvPr/>
        </p:nvSpPr>
        <p:spPr>
          <a:xfrm>
            <a:off x="8339328" y="1600200"/>
            <a:ext cx="274320" cy="274320"/>
          </a:xfrm>
          <a:prstGeom prst="roundRect">
            <a:avLst>
              <a:gd name="adj" fmla="val 50000"/>
            </a:avLst>
          </a:prstGeom>
          <a:solidFill>
            <a:schemeClr val="tx1"/>
          </a:solidFill>
          <a:ln/>
        </p:spPr>
      </p:sp>
      <p:sp>
        <p:nvSpPr>
          <p:cNvPr id="37" name="Text 29"/>
          <p:cNvSpPr txBox="1"/>
          <p:nvPr/>
        </p:nvSpPr>
        <p:spPr>
          <a:xfrm>
            <a:off x="8339328" y="160020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8" name="Text 30"/>
          <p:cNvSpPr txBox="1"/>
          <p:nvPr/>
        </p:nvSpPr>
        <p:spPr>
          <a:xfrm>
            <a:off x="7520940" y="2697480"/>
            <a:ext cx="1280160" cy="292608"/>
          </a:xfrm>
          <a:prstGeom prst="rect">
            <a:avLst/>
          </a:prstGeom>
          <a:noFill/>
          <a:ln/>
        </p:spPr>
        <p:txBody>
          <a:bodyPr wrap="square" lIns="0" tIns="0" rIns="0" bIns="0" rtlCol="0" anchor="t"/>
          <a:lstStyle/>
          <a:p>
            <a:pPr algn="ctr" indent="0" marL="0">
              <a:buNone/>
            </a:pPr>
            <a:r>
              <a:rPr lang="en-US" sz="1600" b="1" dirty="0">
                <a:solidFill>
                  <a:schemeClr val="tx1"/>
                </a:solidFill>
              </a:rPr>
              <a:t>Admin</a:t>
            </a:r>
            <a:endParaRPr lang="en-US" sz="1600" dirty="0"/>
          </a:p>
        </p:txBody>
      </p:sp>
      <p:sp>
        <p:nvSpPr>
          <p:cNvPr id="39" name="Text 31"/>
          <p:cNvSpPr txBox="1"/>
          <p:nvPr/>
        </p:nvSpPr>
        <p:spPr>
          <a:xfrm>
            <a:off x="7539228" y="2990088"/>
            <a:ext cx="1243584" cy="457200"/>
          </a:xfrm>
          <a:prstGeom prst="rect">
            <a:avLst/>
          </a:prstGeom>
          <a:noFill/>
          <a:ln/>
        </p:spPr>
        <p:txBody>
          <a:bodyPr wrap="square" lIns="0" tIns="0" rIns="0" bIns="0" rtlCol="0" anchor="t"/>
          <a:lstStyle/>
          <a:p>
            <a:pPr algn="ctr" indent="0" marL="0">
              <a:buNone/>
            </a:pPr>
            <a:r>
              <a:rPr lang="en-US" sz="1200" dirty="0">
                <a:solidFill>
                  <a:schemeClr val="tx2"/>
                </a:solidFill>
              </a:rPr>
              <a:t>Everything in one view</a:t>
            </a:r>
            <a:endParaRPr lang="en-US" sz="1200" dirty="0"/>
          </a:p>
        </p:txBody>
      </p:sp>
      <p:sp>
        <p:nvSpPr>
          <p:cNvPr id="40" name="Text 32"/>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600" i="1" dirty="0">
                <a:solidFill>
                  <a:schemeClr val="accent1"/>
                </a:solidFill>
              </a:rPr>
              <a:t>Running live now. The next slides walk through each step.</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Sign up in under a minute</a:t>
            </a:r>
            <a:endParaRPr lang="en-US" sz="3000" dirty="0"/>
          </a:p>
        </p:txBody>
      </p:sp>
      <p:sp>
        <p:nvSpPr>
          <p:cNvPr id="3" name="Shape 1"/>
          <p:cNvSpPr/>
          <p:nvPr/>
        </p:nvSpPr>
        <p:spPr>
          <a:xfrm>
            <a:off x="548640" y="1188720"/>
            <a:ext cx="457200" cy="457200"/>
          </a:xfrm>
          <a:prstGeom prst="roundRect">
            <a:avLst>
              <a:gd name="adj" fmla="val 50000"/>
            </a:avLst>
          </a:prstGeom>
          <a:solidFill>
            <a:schemeClr val="accent5"/>
          </a:solidFill>
          <a:ln/>
        </p:spPr>
      </p:sp>
      <p:sp>
        <p:nvSpPr>
          <p:cNvPr id="4" name="Text 2"/>
          <p:cNvSpPr txBox="1"/>
          <p:nvPr/>
        </p:nvSpPr>
        <p:spPr>
          <a:xfrm>
            <a:off x="548640" y="118872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5" name="Text 3"/>
          <p:cNvSpPr txBox="1"/>
          <p:nvPr/>
        </p:nvSpPr>
        <p:spPr>
          <a:xfrm>
            <a:off x="1188720" y="1170432"/>
            <a:ext cx="4206240" cy="292608"/>
          </a:xfrm>
          <a:prstGeom prst="rect">
            <a:avLst/>
          </a:prstGeom>
          <a:noFill/>
          <a:ln/>
        </p:spPr>
        <p:txBody>
          <a:bodyPr wrap="square" lIns="0" tIns="0" rIns="0" bIns="0" rtlCol="0" anchor="t"/>
          <a:lstStyle/>
          <a:p>
            <a:pPr indent="0" marL="0">
              <a:buNone/>
            </a:pPr>
            <a:r>
              <a:rPr lang="en-US" sz="1700" b="1" dirty="0">
                <a:solidFill>
                  <a:schemeClr val="tx1"/>
                </a:solidFill>
              </a:rPr>
              <a:t>Pick a name</a:t>
            </a:r>
            <a:endParaRPr lang="en-US" sz="1700" dirty="0"/>
          </a:p>
        </p:txBody>
      </p:sp>
      <p:sp>
        <p:nvSpPr>
          <p:cNvPr id="6" name="Text 4"/>
          <p:cNvSpPr txBox="1"/>
          <p:nvPr/>
        </p:nvSpPr>
        <p:spPr>
          <a:xfrm>
            <a:off x="1188720" y="1463040"/>
            <a:ext cx="4206240" cy="256032"/>
          </a:xfrm>
          <a:prstGeom prst="rect">
            <a:avLst/>
          </a:prstGeom>
          <a:noFill/>
          <a:ln/>
        </p:spPr>
        <p:txBody>
          <a:bodyPr wrap="square" lIns="0" tIns="0" rIns="0" bIns="0" rtlCol="0" anchor="t"/>
          <a:lstStyle/>
          <a:p>
            <a:pPr indent="0" marL="0">
              <a:buNone/>
            </a:pPr>
            <a:r>
              <a:rPr lang="en-US" sz="1400" dirty="0">
                <a:solidFill>
                  <a:schemeClr val="tx2"/>
                </a:solidFill>
              </a:rPr>
              <a:t>No email, no phone number</a:t>
            </a:r>
            <a:endParaRPr lang="en-US" sz="1400" dirty="0"/>
          </a:p>
        </p:txBody>
      </p:sp>
      <p:sp>
        <p:nvSpPr>
          <p:cNvPr id="7" name="Shape 5"/>
          <p:cNvSpPr/>
          <p:nvPr/>
        </p:nvSpPr>
        <p:spPr>
          <a:xfrm>
            <a:off x="548640" y="1965960"/>
            <a:ext cx="457200" cy="457200"/>
          </a:xfrm>
          <a:prstGeom prst="roundRect">
            <a:avLst>
              <a:gd name="adj" fmla="val 50000"/>
            </a:avLst>
          </a:prstGeom>
          <a:solidFill>
            <a:schemeClr val="accent5"/>
          </a:solidFill>
          <a:ln/>
        </p:spPr>
      </p:sp>
      <p:sp>
        <p:nvSpPr>
          <p:cNvPr id="8" name="Text 6"/>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9" name="Text 7"/>
          <p:cNvSpPr txBox="1"/>
          <p:nvPr/>
        </p:nvSpPr>
        <p:spPr>
          <a:xfrm>
            <a:off x="1188720" y="1947672"/>
            <a:ext cx="4206240" cy="292608"/>
          </a:xfrm>
          <a:prstGeom prst="rect">
            <a:avLst/>
          </a:prstGeom>
          <a:noFill/>
          <a:ln/>
        </p:spPr>
        <p:txBody>
          <a:bodyPr wrap="square" lIns="0" tIns="0" rIns="0" bIns="0" rtlCol="0" anchor="t"/>
          <a:lstStyle/>
          <a:p>
            <a:pPr indent="0" marL="0">
              <a:buNone/>
            </a:pPr>
            <a:r>
              <a:rPr lang="en-US" sz="1700" b="1" dirty="0">
                <a:solidFill>
                  <a:schemeClr val="tx1"/>
                </a:solidFill>
              </a:rPr>
              <a:t>Create a passkey</a:t>
            </a:r>
            <a:endParaRPr lang="en-US" sz="1700" dirty="0"/>
          </a:p>
        </p:txBody>
      </p:sp>
      <p:sp>
        <p:nvSpPr>
          <p:cNvPr id="10" name="Text 8"/>
          <p:cNvSpPr txBox="1"/>
          <p:nvPr/>
        </p:nvSpPr>
        <p:spPr>
          <a:xfrm>
            <a:off x="1188720" y="2240280"/>
            <a:ext cx="4206240" cy="256032"/>
          </a:xfrm>
          <a:prstGeom prst="rect">
            <a:avLst/>
          </a:prstGeom>
          <a:noFill/>
          <a:ln/>
        </p:spPr>
        <p:txBody>
          <a:bodyPr wrap="square" lIns="0" tIns="0" rIns="0" bIns="0" rtlCol="0" anchor="t"/>
          <a:lstStyle/>
          <a:p>
            <a:pPr indent="0" marL="0">
              <a:buNone/>
            </a:pPr>
            <a:r>
              <a:rPr lang="en-US" sz="1400" dirty="0">
                <a:solidFill>
                  <a:schemeClr val="tx2"/>
                </a:solidFill>
              </a:rPr>
              <a:t>Fingerprint, face or PIN on your device</a:t>
            </a:r>
            <a:endParaRPr lang="en-US" sz="1400" dirty="0"/>
          </a:p>
        </p:txBody>
      </p:sp>
      <p:sp>
        <p:nvSpPr>
          <p:cNvPr id="11" name="Shape 9"/>
          <p:cNvSpPr/>
          <p:nvPr/>
        </p:nvSpPr>
        <p:spPr>
          <a:xfrm>
            <a:off x="548640" y="2743200"/>
            <a:ext cx="457200" cy="457200"/>
          </a:xfrm>
          <a:prstGeom prst="roundRect">
            <a:avLst>
              <a:gd name="adj" fmla="val 50000"/>
            </a:avLst>
          </a:prstGeom>
          <a:solidFill>
            <a:schemeClr val="accent1"/>
          </a:solidFill>
          <a:ln/>
        </p:spPr>
      </p:sp>
      <p:sp>
        <p:nvSpPr>
          <p:cNvPr id="12" name="Text 10"/>
          <p:cNvSpPr txBox="1"/>
          <p:nvPr/>
        </p:nvSpPr>
        <p:spPr>
          <a:xfrm>
            <a:off x="548640" y="2743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88720" y="2724912"/>
            <a:ext cx="4206240" cy="292608"/>
          </a:xfrm>
          <a:prstGeom prst="rect">
            <a:avLst/>
          </a:prstGeom>
          <a:noFill/>
          <a:ln/>
        </p:spPr>
        <p:txBody>
          <a:bodyPr wrap="square" lIns="0" tIns="0" rIns="0" bIns="0" rtlCol="0" anchor="t"/>
          <a:lstStyle/>
          <a:p>
            <a:pPr indent="0" marL="0">
              <a:buNone/>
            </a:pPr>
            <a:r>
              <a:rPr lang="en-US" sz="1700" b="1" dirty="0">
                <a:solidFill>
                  <a:schemeClr val="tx1"/>
                </a:solidFill>
              </a:rPr>
              <a:t>Show your face + your own hand sign</a:t>
            </a:r>
            <a:endParaRPr lang="en-US" sz="1700" dirty="0"/>
          </a:p>
        </p:txBody>
      </p:sp>
      <p:sp>
        <p:nvSpPr>
          <p:cNvPr id="14" name="Text 12"/>
          <p:cNvSpPr txBox="1"/>
          <p:nvPr/>
        </p:nvSpPr>
        <p:spPr>
          <a:xfrm>
            <a:off x="1188720" y="3017520"/>
            <a:ext cx="4206240" cy="256032"/>
          </a:xfrm>
          <a:prstGeom prst="rect">
            <a:avLst/>
          </a:prstGeom>
          <a:noFill/>
          <a:ln/>
        </p:spPr>
        <p:txBody>
          <a:bodyPr wrap="square" lIns="0" tIns="0" rIns="0" bIns="0" rtlCol="0" anchor="t"/>
          <a:lstStyle/>
          <a:p>
            <a:pPr indent="0" marL="0">
              <a:buNone/>
            </a:pPr>
            <a:r>
              <a:rPr lang="en-US" sz="1400" dirty="0">
                <a:solidFill>
                  <a:schemeClr val="tx2"/>
                </a:solidFill>
              </a:rPr>
              <a:t>Any hand shape you like becomes yours</a:t>
            </a:r>
            <a:endParaRPr lang="en-US" sz="1400" dirty="0"/>
          </a:p>
        </p:txBody>
      </p:sp>
      <p:sp>
        <p:nvSpPr>
          <p:cNvPr id="15" name="Shape 13"/>
          <p:cNvSpPr/>
          <p:nvPr/>
        </p:nvSpPr>
        <p:spPr>
          <a:xfrm>
            <a:off x="548640" y="3520440"/>
            <a:ext cx="457200" cy="457200"/>
          </a:xfrm>
          <a:prstGeom prst="roundRect">
            <a:avLst>
              <a:gd name="adj" fmla="val 50000"/>
            </a:avLst>
          </a:prstGeom>
          <a:solidFill>
            <a:schemeClr val="accent5"/>
          </a:solidFill>
          <a:ln/>
        </p:spPr>
      </p:sp>
      <p:sp>
        <p:nvSpPr>
          <p:cNvPr id="16" name="Text 14"/>
          <p:cNvSpPr txBox="1"/>
          <p:nvPr/>
        </p:nvSpPr>
        <p:spPr>
          <a:xfrm>
            <a:off x="548640" y="352044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7" name="Text 15"/>
          <p:cNvSpPr txBox="1"/>
          <p:nvPr/>
        </p:nvSpPr>
        <p:spPr>
          <a:xfrm>
            <a:off x="1188720" y="3502152"/>
            <a:ext cx="4206240" cy="292608"/>
          </a:xfrm>
          <a:prstGeom prst="rect">
            <a:avLst/>
          </a:prstGeom>
          <a:noFill/>
          <a:ln/>
        </p:spPr>
        <p:txBody>
          <a:bodyPr wrap="square" lIns="0" tIns="0" rIns="0" bIns="0" rtlCol="0" anchor="t"/>
          <a:lstStyle/>
          <a:p>
            <a:pPr indent="0" marL="0">
              <a:buNone/>
            </a:pPr>
            <a:r>
              <a:rPr lang="en-US" sz="1700" b="1" dirty="0">
                <a:solidFill>
                  <a:schemeClr val="tx1"/>
                </a:solidFill>
              </a:rPr>
              <a:t>Save your recovery code</a:t>
            </a:r>
            <a:endParaRPr lang="en-US" sz="1700" dirty="0"/>
          </a:p>
        </p:txBody>
      </p:sp>
      <p:sp>
        <p:nvSpPr>
          <p:cNvPr id="18" name="Text 16"/>
          <p:cNvSpPr txBox="1"/>
          <p:nvPr/>
        </p:nvSpPr>
        <p:spPr>
          <a:xfrm>
            <a:off x="1188720" y="3794760"/>
            <a:ext cx="4206240" cy="256032"/>
          </a:xfrm>
          <a:prstGeom prst="rect">
            <a:avLst/>
          </a:prstGeom>
          <a:noFill/>
          <a:ln/>
        </p:spPr>
        <p:txBody>
          <a:bodyPr wrap="square" lIns="0" tIns="0" rIns="0" bIns="0" rtlCol="0" anchor="t"/>
          <a:lstStyle/>
          <a:p>
            <a:pPr indent="0" marL="0">
              <a:buNone/>
            </a:pPr>
            <a:r>
              <a:rPr lang="en-US" sz="1400" dirty="0">
                <a:solidFill>
                  <a:schemeClr val="tx2"/>
                </a:solidFill>
              </a:rPr>
              <a:t>Your way back if every device is lost</a:t>
            </a:r>
            <a:endParaRPr lang="en-US" sz="1400" dirty="0"/>
          </a:p>
        </p:txBody>
      </p:sp>
      <p:sp>
        <p:nvSpPr>
          <p:cNvPr id="19" name="phone frame"/>
          <p:cNvSpPr/>
          <p:nvPr/>
        </p:nvSpPr>
        <p:spPr>
          <a:xfrm>
            <a:off x="6172200" y="1143000"/>
            <a:ext cx="2103120" cy="3611880"/>
          </a:xfrm>
          <a:prstGeom prst="roundRect">
            <a:avLst>
              <a:gd name="adj" fmla="val 9565"/>
            </a:avLst>
          </a:prstGeom>
          <a:solidFill>
            <a:schemeClr val="tx1"/>
          </a:solidFill>
          <a:ln/>
        </p:spPr>
      </p:sp>
      <p:sp>
        <p:nvSpPr>
          <p:cNvPr id="20" name="Shape 18"/>
          <p:cNvSpPr/>
          <p:nvPr/>
        </p:nvSpPr>
        <p:spPr>
          <a:xfrm>
            <a:off x="6236208" y="1207008"/>
            <a:ext cx="1975104" cy="3483864"/>
          </a:xfrm>
          <a:prstGeom prst="roundRect">
            <a:avLst>
              <a:gd name="adj" fmla="val 7870"/>
            </a:avLst>
          </a:prstGeom>
          <a:solidFill>
            <a:schemeClr val="bg1"/>
          </a:solidFill>
          <a:ln/>
        </p:spPr>
      </p:sp>
      <p:sp>
        <p:nvSpPr>
          <p:cNvPr id="21" name="Shape 19"/>
          <p:cNvSpPr/>
          <p:nvPr/>
        </p:nvSpPr>
        <p:spPr>
          <a:xfrm>
            <a:off x="6949440" y="1280160"/>
            <a:ext cx="548640" cy="91440"/>
          </a:xfrm>
          <a:prstGeom prst="roundRect">
            <a:avLst>
              <a:gd name="adj" fmla="val 50000"/>
            </a:avLst>
          </a:prstGeom>
          <a:solidFill>
            <a:schemeClr val="tx1"/>
          </a:solidFill>
          <a:ln/>
        </p:spPr>
      </p:sp>
      <p:sp>
        <p:nvSpPr>
          <p:cNvPr id="22" name="Shape 20"/>
          <p:cNvSpPr/>
          <p:nvPr/>
        </p:nvSpPr>
        <p:spPr>
          <a:xfrm>
            <a:off x="6739128" y="1545336"/>
            <a:ext cx="109728" cy="109728"/>
          </a:xfrm>
          <a:prstGeom prst="ellipse">
            <a:avLst/>
          </a:prstGeom>
          <a:solidFill>
            <a:schemeClr val="accent1"/>
          </a:solidFill>
          <a:ln/>
        </p:spPr>
      </p:sp>
      <p:sp>
        <p:nvSpPr>
          <p:cNvPr id="23" name="Shape 21"/>
          <p:cNvSpPr/>
          <p:nvPr/>
        </p:nvSpPr>
        <p:spPr>
          <a:xfrm>
            <a:off x="6940296" y="1545336"/>
            <a:ext cx="109728" cy="109728"/>
          </a:xfrm>
          <a:prstGeom prst="ellipse">
            <a:avLst/>
          </a:prstGeom>
          <a:solidFill>
            <a:schemeClr val="accent1"/>
          </a:solidFill>
          <a:ln/>
        </p:spPr>
      </p:sp>
      <p:sp>
        <p:nvSpPr>
          <p:cNvPr id="24" name="Shape 22"/>
          <p:cNvSpPr/>
          <p:nvPr/>
        </p:nvSpPr>
        <p:spPr>
          <a:xfrm>
            <a:off x="7141464" y="1545336"/>
            <a:ext cx="109728" cy="109728"/>
          </a:xfrm>
          <a:prstGeom prst="ellipse">
            <a:avLst/>
          </a:prstGeom>
          <a:solidFill>
            <a:schemeClr val="accent1"/>
          </a:solidFill>
          <a:ln/>
        </p:spPr>
      </p:sp>
      <p:sp>
        <p:nvSpPr>
          <p:cNvPr id="25" name="Shape 23"/>
          <p:cNvSpPr/>
          <p:nvPr/>
        </p:nvSpPr>
        <p:spPr>
          <a:xfrm>
            <a:off x="7342632" y="1545336"/>
            <a:ext cx="109728" cy="109728"/>
          </a:xfrm>
          <a:prstGeom prst="ellipse">
            <a:avLst/>
          </a:prstGeom>
          <a:solidFill>
            <a:schemeClr val="accent1"/>
          </a:solidFill>
          <a:ln/>
        </p:spPr>
      </p:sp>
      <p:sp>
        <p:nvSpPr>
          <p:cNvPr id="26" name="Shape 24"/>
          <p:cNvSpPr/>
          <p:nvPr/>
        </p:nvSpPr>
        <p:spPr>
          <a:xfrm>
            <a:off x="7543800" y="1545336"/>
            <a:ext cx="109728" cy="109728"/>
          </a:xfrm>
          <a:prstGeom prst="ellipse">
            <a:avLst/>
          </a:prstGeom>
          <a:solidFill>
            <a:srgbClr val="CBD5E1"/>
          </a:solidFill>
          <a:ln/>
        </p:spPr>
      </p:sp>
      <p:sp>
        <p:nvSpPr>
          <p:cNvPr id="27" name="Text 25"/>
          <p:cNvSpPr txBox="1"/>
          <p:nvPr/>
        </p:nvSpPr>
        <p:spPr>
          <a:xfrm>
            <a:off x="6419088" y="1755648"/>
            <a:ext cx="1609344" cy="201168"/>
          </a:xfrm>
          <a:prstGeom prst="rect">
            <a:avLst/>
          </a:prstGeom>
          <a:noFill/>
          <a:ln/>
        </p:spPr>
        <p:txBody>
          <a:bodyPr wrap="square" lIns="0" tIns="0" rIns="0" bIns="0" rtlCol="0" anchor="t"/>
          <a:lstStyle/>
          <a:p>
            <a:pPr indent="0" marL="0">
              <a:buNone/>
            </a:pPr>
            <a:r>
              <a:rPr lang="en-US" sz="1000" dirty="0">
                <a:solidFill>
                  <a:schemeClr val="tx2"/>
                </a:solidFill>
              </a:rPr>
              <a:t>Step 4 of 5</a:t>
            </a:r>
            <a:endParaRPr lang="en-US" sz="1000" dirty="0"/>
          </a:p>
        </p:txBody>
      </p:sp>
      <p:sp>
        <p:nvSpPr>
          <p:cNvPr id="28" name="Text 26"/>
          <p:cNvSpPr txBox="1"/>
          <p:nvPr/>
        </p:nvSpPr>
        <p:spPr>
          <a:xfrm>
            <a:off x="6419088" y="1965960"/>
            <a:ext cx="1609344" cy="457200"/>
          </a:xfrm>
          <a:prstGeom prst="rect">
            <a:avLst/>
          </a:prstGeom>
          <a:noFill/>
          <a:ln/>
        </p:spPr>
        <p:txBody>
          <a:bodyPr wrap="square" lIns="0" tIns="0" rIns="0" bIns="0" rtlCol="0" anchor="t"/>
          <a:lstStyle/>
          <a:p>
            <a:pPr indent="0" marL="0">
              <a:buNone/>
            </a:pPr>
            <a:r>
              <a:rPr lang="en-US" sz="1400" b="1" dirty="0">
                <a:solidFill>
                  <a:schemeClr val="tx1"/>
                </a:solidFill>
              </a:rPr>
              <a:t>Save your recovery code</a:t>
            </a:r>
            <a:endParaRPr lang="en-US" sz="1400" dirty="0"/>
          </a:p>
        </p:txBody>
      </p:sp>
      <p:sp>
        <p:nvSpPr>
          <p:cNvPr id="29" name="Shape 27"/>
          <p:cNvSpPr/>
          <p:nvPr/>
        </p:nvSpPr>
        <p:spPr>
          <a:xfrm>
            <a:off x="6419088" y="2487168"/>
            <a:ext cx="1609344" cy="731520"/>
          </a:xfrm>
          <a:prstGeom prst="roundRect">
            <a:avLst>
              <a:gd name="adj" fmla="val 10000"/>
            </a:avLst>
          </a:prstGeom>
          <a:solidFill>
            <a:schemeClr val="accent5"/>
          </a:solidFill>
          <a:ln/>
        </p:spPr>
      </p:sp>
      <p:sp>
        <p:nvSpPr>
          <p:cNvPr id="30" name="Text 28"/>
          <p:cNvSpPr txBox="1"/>
          <p:nvPr/>
        </p:nvSpPr>
        <p:spPr>
          <a:xfrm>
            <a:off x="6419088" y="2487168"/>
            <a:ext cx="1609344" cy="731520"/>
          </a:xfrm>
          <a:prstGeom prst="rect">
            <a:avLst/>
          </a:prstGeom>
          <a:noFill/>
          <a:ln/>
        </p:spPr>
        <p:txBody>
          <a:bodyPr wrap="square" lIns="0" tIns="0" rIns="0" bIns="0" rtlCol="0" anchor="ct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K7QM-2XRP</a:t>
            </a:r>
            <a:endParaRPr lang="en-US" sz="1400" dirty="0"/>
          </a:p>
          <a:p>
            <a:pPr algn="ctr" indent="0" marL="0">
              <a:buNone/>
            </a:pPr>
            <a:r>
              <a:rPr lang="en-US" sz="1400" b="1" dirty="0">
                <a:solidFill>
                  <a:schemeClr val="accent1"/>
                </a:solidFill>
                <a:latin typeface="Courier New" pitchFamily="34" charset="0"/>
                <a:ea typeface="Courier New" pitchFamily="34" charset="-122"/>
                <a:cs typeface="Courier New" pitchFamily="34" charset="-120"/>
              </a:rPr>
              <a:t>9FTA-HD4W</a:t>
            </a:r>
            <a:endParaRPr lang="en-US" sz="1400" dirty="0"/>
          </a:p>
        </p:txBody>
      </p:sp>
      <p:sp>
        <p:nvSpPr>
          <p:cNvPr id="31" name="Text 29"/>
          <p:cNvSpPr txBox="1"/>
          <p:nvPr/>
        </p:nvSpPr>
        <p:spPr>
          <a:xfrm>
            <a:off x="6419088" y="3310128"/>
            <a:ext cx="1609344" cy="365760"/>
          </a:xfrm>
          <a:prstGeom prst="rect">
            <a:avLst/>
          </a:prstGeom>
          <a:noFill/>
          <a:ln/>
        </p:spPr>
        <p:txBody>
          <a:bodyPr wrap="square" lIns="0" tIns="0" rIns="0" bIns="0" rtlCol="0" anchor="t"/>
          <a:lstStyle/>
          <a:p>
            <a:pPr indent="0" marL="0">
              <a:buNone/>
            </a:pPr>
            <a:r>
              <a:rPr lang="en-US" sz="1000" dirty="0">
                <a:solidFill>
                  <a:schemeClr val="tx2"/>
                </a:solidFill>
              </a:rPr>
              <a:t>Shown once. Keep it somewhere safe.</a:t>
            </a:r>
            <a:endParaRPr lang="en-US" sz="1000" dirty="0"/>
          </a:p>
        </p:txBody>
      </p:sp>
      <p:sp>
        <p:nvSpPr>
          <p:cNvPr id="32" name="Shape 30"/>
          <p:cNvSpPr/>
          <p:nvPr/>
        </p:nvSpPr>
        <p:spPr>
          <a:xfrm>
            <a:off x="6419088" y="3950208"/>
            <a:ext cx="1609344" cy="347472"/>
          </a:xfrm>
          <a:prstGeom prst="roundRect">
            <a:avLst>
              <a:gd name="adj" fmla="val 15789"/>
            </a:avLst>
          </a:prstGeom>
          <a:solidFill>
            <a:schemeClr val="accent1"/>
          </a:solidFill>
          <a:ln/>
        </p:spPr>
      </p:sp>
      <p:sp>
        <p:nvSpPr>
          <p:cNvPr id="33" name="Text 31"/>
          <p:cNvSpPr txBox="1"/>
          <p:nvPr/>
        </p:nvSpPr>
        <p:spPr>
          <a:xfrm>
            <a:off x="6419088" y="3950208"/>
            <a:ext cx="1609344" cy="347472"/>
          </a:xfrm>
          <a:prstGeom prst="rect">
            <a:avLst/>
          </a:prstGeom>
          <a:noFill/>
          <a:ln/>
        </p:spPr>
        <p:txBody>
          <a:bodyPr wrap="square" lIns="0" tIns="0" rIns="0" bIns="0" rtlCol="0" anchor="ctr"/>
          <a:lstStyle/>
          <a:p>
            <a:pPr algn="ctr" indent="0" marL="0">
              <a:buNone/>
            </a:pPr>
            <a:r>
              <a:rPr lang="en-US" sz="1100" b="1" dirty="0">
                <a:solidFill>
                  <a:schemeClr val="bg1"/>
                </a:solidFill>
              </a:rPr>
              <a:t>I've saved it</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Unusual login? Show us it's really you</a:t>
            </a:r>
            <a:endParaRPr lang="en-US" sz="3000" dirty="0"/>
          </a:p>
        </p:txBody>
      </p:sp>
      <p:sp>
        <p:nvSpPr>
          <p:cNvPr id="3" name="browser frame"/>
          <p:cNvSpPr/>
          <p:nvPr/>
        </p:nvSpPr>
        <p:spPr>
          <a:xfrm>
            <a:off x="548640" y="1188720"/>
            <a:ext cx="4572000" cy="3246120"/>
          </a:xfrm>
          <a:prstGeom prst="roundRect">
            <a:avLst>
              <a:gd name="adj" fmla="val 2254"/>
            </a:avLst>
          </a:prstGeom>
          <a:solidFill>
            <a:schemeClr val="bg1"/>
          </a:solidFill>
          <a:ln w="9525">
            <a:solidFill>
              <a:srgbClr val="CBD5E1"/>
            </a:solidFill>
            <a:prstDash val="solid"/>
          </a:ln>
        </p:spPr>
      </p:sp>
      <p:sp>
        <p:nvSpPr>
          <p:cNvPr id="4" name="Shape 2"/>
          <p:cNvSpPr/>
          <p:nvPr/>
        </p:nvSpPr>
        <p:spPr>
          <a:xfrm>
            <a:off x="731520" y="1344168"/>
            <a:ext cx="109728" cy="109728"/>
          </a:xfrm>
          <a:prstGeom prst="ellipse">
            <a:avLst/>
          </a:prstGeom>
          <a:solidFill>
            <a:srgbClr val="CBD5E1"/>
          </a:solidFill>
          <a:ln/>
        </p:spPr>
      </p:sp>
      <p:sp>
        <p:nvSpPr>
          <p:cNvPr id="5" name="Shape 3"/>
          <p:cNvSpPr/>
          <p:nvPr/>
        </p:nvSpPr>
        <p:spPr>
          <a:xfrm>
            <a:off x="914400" y="1344168"/>
            <a:ext cx="109728" cy="109728"/>
          </a:xfrm>
          <a:prstGeom prst="ellipse">
            <a:avLst/>
          </a:prstGeom>
          <a:solidFill>
            <a:srgbClr val="CBD5E1"/>
          </a:solidFill>
          <a:ln/>
        </p:spPr>
      </p:sp>
      <p:sp>
        <p:nvSpPr>
          <p:cNvPr id="6" name="Shape 4"/>
          <p:cNvSpPr/>
          <p:nvPr/>
        </p:nvSpPr>
        <p:spPr>
          <a:xfrm>
            <a:off x="1097280" y="1344168"/>
            <a:ext cx="109728" cy="109728"/>
          </a:xfrm>
          <a:prstGeom prst="ellipse">
            <a:avLst/>
          </a:prstGeom>
          <a:solidFill>
            <a:srgbClr val="CBD5E1"/>
          </a:solidFill>
          <a:ln/>
        </p:spPr>
      </p:sp>
      <p:sp>
        <p:nvSpPr>
          <p:cNvPr id="7" name="Shape 5"/>
          <p:cNvSpPr/>
          <p:nvPr/>
        </p:nvSpPr>
        <p:spPr>
          <a:xfrm>
            <a:off x="1371600" y="1280160"/>
            <a:ext cx="3566160" cy="246888"/>
          </a:xfrm>
          <a:prstGeom prst="roundRect">
            <a:avLst>
              <a:gd name="adj" fmla="val 48148"/>
            </a:avLst>
          </a:prstGeom>
          <a:solidFill>
            <a:schemeClr val="accent5"/>
          </a:solidFill>
          <a:ln/>
        </p:spPr>
      </p:sp>
      <p:sp>
        <p:nvSpPr>
          <p:cNvPr id="8" name="Text 6"/>
          <p:cNvSpPr txBox="1"/>
          <p:nvPr/>
        </p:nvSpPr>
        <p:spPr>
          <a:xfrm>
            <a:off x="1508760" y="1280160"/>
            <a:ext cx="3383280" cy="246888"/>
          </a:xfrm>
          <a:prstGeom prst="rect">
            <a:avLst/>
          </a:prstGeom>
          <a:noFill/>
          <a:ln/>
        </p:spPr>
        <p:txBody>
          <a:bodyPr wrap="square" lIns="0" tIns="0" rIns="0" bIns="0" rtlCol="0" anchor="ctr"/>
          <a:lstStyle/>
          <a:p>
            <a:pPr indent="0" marL="0">
              <a:buNone/>
            </a:pPr>
            <a:r>
              <a:rPr lang="en-US" sz="1100" b="1" dirty="0">
                <a:solidFill>
                  <a:schemeClr val="accent1"/>
                </a:solidFill>
              </a:rPr>
              <a:t>secure.app/signin/step-up</a:t>
            </a:r>
            <a:endParaRPr lang="en-US" sz="1100" dirty="0"/>
          </a:p>
        </p:txBody>
      </p:sp>
      <p:sp>
        <p:nvSpPr>
          <p:cNvPr id="9" name="Shape 7"/>
          <p:cNvSpPr/>
          <p:nvPr/>
        </p:nvSpPr>
        <p:spPr>
          <a:xfrm>
            <a:off x="548640" y="1618488"/>
            <a:ext cx="4572000" cy="0"/>
          </a:xfrm>
          <a:prstGeom prst="line">
            <a:avLst/>
          </a:prstGeom>
          <a:noFill/>
          <a:ln w="9525">
            <a:solidFill>
              <a:srgbClr val="CBD5E1"/>
            </a:solidFill>
            <a:prstDash val="solid"/>
          </a:ln>
        </p:spPr>
      </p:sp>
      <p:sp>
        <p:nvSpPr>
          <p:cNvPr id="10" name="Text 8"/>
          <p:cNvSpPr txBox="1"/>
          <p:nvPr/>
        </p:nvSpPr>
        <p:spPr>
          <a:xfrm>
            <a:off x="777240" y="1755648"/>
            <a:ext cx="2743200" cy="274320"/>
          </a:xfrm>
          <a:prstGeom prst="rect">
            <a:avLst/>
          </a:prstGeom>
          <a:noFill/>
          <a:ln/>
        </p:spPr>
        <p:txBody>
          <a:bodyPr wrap="square" lIns="0" tIns="0" rIns="0" bIns="0" rtlCol="0" anchor="t"/>
          <a:lstStyle/>
          <a:p>
            <a:pPr indent="0" marL="0">
              <a:buNone/>
            </a:pPr>
            <a:r>
              <a:rPr lang="en-US" sz="1500" b="1" dirty="0">
                <a:solidFill>
                  <a:schemeClr val="tx1"/>
                </a:solidFill>
              </a:rPr>
              <a:t>Quick check</a:t>
            </a:r>
            <a:endParaRPr lang="en-US" sz="1500" dirty="0"/>
          </a:p>
        </p:txBody>
      </p:sp>
      <p:sp>
        <p:nvSpPr>
          <p:cNvPr id="11" name="camera view"/>
          <p:cNvSpPr/>
          <p:nvPr/>
        </p:nvSpPr>
        <p:spPr>
          <a:xfrm>
            <a:off x="777240" y="2121408"/>
            <a:ext cx="2514600" cy="2057400"/>
          </a:xfrm>
          <a:prstGeom prst="roundRect">
            <a:avLst>
              <a:gd name="adj" fmla="val 3556"/>
            </a:avLst>
          </a:prstGeom>
          <a:solidFill>
            <a:schemeClr val="tx1"/>
          </a:solidFill>
          <a:ln/>
        </p:spPr>
      </p:sp>
      <p:pic>
        <p:nvPicPr>
          <p:cNvPr id="12" name="camera face" descr="preencoded.png">    </p:cNvPr>
          <p:cNvPicPr>
            <a:picLocks noChangeAspect="1"/>
          </p:cNvPicPr>
          <p:nvPr/>
        </p:nvPicPr>
        <p:blipFill>
          <a:blip r:embed="rId1"/>
          <a:stretch>
            <a:fillRect/>
          </a:stretch>
        </p:blipFill>
        <p:spPr>
          <a:xfrm>
            <a:off x="1481328" y="2532888"/>
            <a:ext cx="1097280" cy="1097280"/>
          </a:xfrm>
          <a:prstGeom prst="rect">
            <a:avLst/>
          </a:prstGeom>
        </p:spPr>
      </p:pic>
      <p:sp>
        <p:nvSpPr>
          <p:cNvPr id="13" name="prompt card"/>
          <p:cNvSpPr/>
          <p:nvPr/>
        </p:nvSpPr>
        <p:spPr>
          <a:xfrm>
            <a:off x="3474720" y="2121408"/>
            <a:ext cx="1417320" cy="1188720"/>
          </a:xfrm>
          <a:prstGeom prst="roundRect">
            <a:avLst>
              <a:gd name="adj" fmla="val 6154"/>
            </a:avLst>
          </a:prstGeom>
          <a:solidFill>
            <a:schemeClr val="accent5"/>
          </a:solidFill>
          <a:ln/>
        </p:spPr>
      </p:sp>
      <p:pic>
        <p:nvPicPr>
          <p:cNvPr id="14" name="Image 1" descr="preencoded.png">    </p:cNvPr>
          <p:cNvPicPr>
            <a:picLocks noChangeAspect="1"/>
          </p:cNvPicPr>
          <p:nvPr/>
        </p:nvPicPr>
        <p:blipFill>
          <a:blip r:embed="rId2"/>
          <a:stretch>
            <a:fillRect/>
          </a:stretch>
        </p:blipFill>
        <p:spPr>
          <a:xfrm>
            <a:off x="3931920" y="2240280"/>
            <a:ext cx="502920" cy="502920"/>
          </a:xfrm>
          <a:prstGeom prst="rect">
            <a:avLst/>
          </a:prstGeom>
        </p:spPr>
      </p:pic>
      <p:sp>
        <p:nvSpPr>
          <p:cNvPr id="15" name="Text 11"/>
          <p:cNvSpPr txBox="1"/>
          <p:nvPr/>
        </p:nvSpPr>
        <p:spPr>
          <a:xfrm>
            <a:off x="3520440" y="2788920"/>
            <a:ext cx="1325880" cy="457200"/>
          </a:xfrm>
          <a:prstGeom prst="rect">
            <a:avLst/>
          </a:prstGeom>
          <a:noFill/>
          <a:ln/>
        </p:spPr>
        <p:txBody>
          <a:bodyPr wrap="square" lIns="0" tIns="0" rIns="0" bIns="0" rtlCol="0" anchor="t"/>
          <a:lstStyle/>
          <a:p>
            <a:pPr algn="ctr" indent="0" marL="0">
              <a:buNone/>
            </a:pPr>
            <a:r>
              <a:rPr lang="en-US" sz="1200" b="1" dirty="0">
                <a:solidFill>
                  <a:schemeClr val="accent1"/>
                </a:solidFill>
              </a:rPr>
              <a:t>Your own hand sign</a:t>
            </a:r>
            <a:endParaRPr lang="en-US" sz="1200" dirty="0"/>
          </a:p>
        </p:txBody>
      </p:sp>
      <p:sp>
        <p:nvSpPr>
          <p:cNvPr id="16" name="Shape 12"/>
          <p:cNvSpPr/>
          <p:nvPr/>
        </p:nvSpPr>
        <p:spPr>
          <a:xfrm>
            <a:off x="3474720" y="3447288"/>
            <a:ext cx="1417320" cy="274320"/>
          </a:xfrm>
          <a:prstGeom prst="roundRect">
            <a:avLst>
              <a:gd name="adj" fmla="val 50000"/>
            </a:avLst>
          </a:prstGeom>
          <a:solidFill>
            <a:schemeClr val="bg2"/>
          </a:solidFill>
          <a:ln/>
        </p:spPr>
      </p:sp>
      <p:sp>
        <p:nvSpPr>
          <p:cNvPr id="17" name="Text 13"/>
          <p:cNvSpPr txBox="1"/>
          <p:nvPr/>
        </p:nvSpPr>
        <p:spPr>
          <a:xfrm>
            <a:off x="3474720" y="3447288"/>
            <a:ext cx="1417320" cy="274320"/>
          </a:xfrm>
          <a:prstGeom prst="rect">
            <a:avLst/>
          </a:prstGeom>
          <a:noFill/>
          <a:ln/>
        </p:spPr>
        <p:txBody>
          <a:bodyPr wrap="square" lIns="0" tIns="0" rIns="0" bIns="0" rtlCol="0" anchor="ctr"/>
          <a:lstStyle/>
          <a:p>
            <a:pPr algn="ctr" indent="0" marL="0">
              <a:buNone/>
            </a:pPr>
            <a:r>
              <a:rPr lang="en-US" sz="1000" dirty="0">
                <a:solidFill>
                  <a:schemeClr val="tx2"/>
                </a:solidFill>
              </a:rPr>
              <a:t>Next: thumbs up</a:t>
            </a:r>
            <a:endParaRPr lang="en-US" sz="1000" dirty="0"/>
          </a:p>
        </p:txBody>
      </p:sp>
      <p:sp>
        <p:nvSpPr>
          <p:cNvPr id="18" name="Shape 14"/>
          <p:cNvSpPr/>
          <p:nvPr/>
        </p:nvSpPr>
        <p:spPr>
          <a:xfrm>
            <a:off x="3474720" y="3950208"/>
            <a:ext cx="1417320" cy="91440"/>
          </a:xfrm>
          <a:prstGeom prst="roundRect">
            <a:avLst>
              <a:gd name="adj" fmla="val 50000"/>
            </a:avLst>
          </a:prstGeom>
          <a:solidFill>
            <a:srgbClr val="E2E8F0"/>
          </a:solidFill>
          <a:ln/>
        </p:spPr>
      </p:sp>
      <p:sp>
        <p:nvSpPr>
          <p:cNvPr id="19" name="Shape 15"/>
          <p:cNvSpPr/>
          <p:nvPr/>
        </p:nvSpPr>
        <p:spPr>
          <a:xfrm>
            <a:off x="3474720" y="3950208"/>
            <a:ext cx="868680" cy="91440"/>
          </a:xfrm>
          <a:prstGeom prst="roundRect">
            <a:avLst>
              <a:gd name="adj" fmla="val 50000"/>
            </a:avLst>
          </a:prstGeom>
          <a:solidFill>
            <a:schemeClr val="accent1"/>
          </a:solidFill>
          <a:ln/>
        </p:spPr>
      </p:sp>
      <p:sp>
        <p:nvSpPr>
          <p:cNvPr id="20" name="result 1"/>
          <p:cNvSpPr/>
          <p:nvPr/>
        </p:nvSpPr>
        <p:spPr>
          <a:xfrm>
            <a:off x="5486400" y="1188720"/>
            <a:ext cx="3108960" cy="731520"/>
          </a:xfrm>
          <a:prstGeom prst="roundRect">
            <a:avLst>
              <a:gd name="adj" fmla="val 10000"/>
            </a:avLst>
          </a:prstGeom>
          <a:solidFill>
            <a:schemeClr val="bg2"/>
          </a:solidFill>
          <a:ln/>
        </p:spPr>
      </p:sp>
      <p:sp>
        <p:nvSpPr>
          <p:cNvPr id="21" name="Shape 17"/>
          <p:cNvSpPr/>
          <p:nvPr/>
        </p:nvSpPr>
        <p:spPr>
          <a:xfrm>
            <a:off x="5650992" y="1325880"/>
            <a:ext cx="457200" cy="457200"/>
          </a:xfrm>
          <a:prstGeom prst="ellipse">
            <a:avLst/>
          </a:prstGeom>
          <a:solidFill>
            <a:schemeClr val="bg1"/>
          </a:solidFill>
          <a:ln/>
        </p:spPr>
      </p:sp>
      <p:pic>
        <p:nvPicPr>
          <p:cNvPr id="22" name="Image 2" descr="preencoded.png">    </p:cNvPr>
          <p:cNvPicPr>
            <a:picLocks noChangeAspect="1"/>
          </p:cNvPicPr>
          <p:nvPr/>
        </p:nvPicPr>
        <p:blipFill>
          <a:blip r:embed="rId3"/>
          <a:stretch>
            <a:fillRect/>
          </a:stretch>
        </p:blipFill>
        <p:spPr>
          <a:xfrm>
            <a:off x="5765292" y="1440180"/>
            <a:ext cx="228600" cy="228600"/>
          </a:xfrm>
          <a:prstGeom prst="rect">
            <a:avLst/>
          </a:prstGeom>
        </p:spPr>
      </p:pic>
      <p:sp>
        <p:nvSpPr>
          <p:cNvPr id="23" name="Text 18"/>
          <p:cNvSpPr txBox="1"/>
          <p:nvPr/>
        </p:nvSpPr>
        <p:spPr>
          <a:xfrm>
            <a:off x="6263640" y="1325880"/>
            <a:ext cx="1371600" cy="457200"/>
          </a:xfrm>
          <a:prstGeom prst="rect">
            <a:avLst/>
          </a:prstGeom>
          <a:noFill/>
          <a:ln/>
        </p:spPr>
        <p:txBody>
          <a:bodyPr wrap="square" lIns="0" tIns="0" rIns="0" bIns="0" rtlCol="0" anchor="ctr"/>
          <a:lstStyle/>
          <a:p>
            <a:pPr indent="0" marL="0">
              <a:buNone/>
            </a:pPr>
            <a:r>
              <a:rPr lang="en-US" sz="1600" b="1" dirty="0">
                <a:solidFill>
                  <a:schemeClr val="tx1"/>
                </a:solidFill>
              </a:rPr>
              <a:t>Live you</a:t>
            </a:r>
            <a:endParaRPr lang="en-US" sz="1600" dirty="0"/>
          </a:p>
        </p:txBody>
      </p:sp>
      <p:sp>
        <p:nvSpPr>
          <p:cNvPr id="24" name="Shape 19"/>
          <p:cNvSpPr/>
          <p:nvPr/>
        </p:nvSpPr>
        <p:spPr>
          <a:xfrm>
            <a:off x="7635240" y="1408176"/>
            <a:ext cx="777240" cy="292608"/>
          </a:xfrm>
          <a:prstGeom prst="roundRect">
            <a:avLst>
              <a:gd name="adj" fmla="val 50000"/>
            </a:avLst>
          </a:prstGeom>
          <a:solidFill>
            <a:schemeClr val="accent1"/>
          </a:solidFill>
          <a:ln/>
        </p:spPr>
      </p:sp>
      <p:sp>
        <p:nvSpPr>
          <p:cNvPr id="25" name="Text 20"/>
          <p:cNvSpPr txBox="1"/>
          <p:nvPr/>
        </p:nvSpPr>
        <p:spPr>
          <a:xfrm>
            <a:off x="7635240" y="1408176"/>
            <a:ext cx="777240" cy="292608"/>
          </a:xfrm>
          <a:prstGeom prst="rect">
            <a:avLst/>
          </a:prstGeom>
          <a:noFill/>
          <a:ln/>
        </p:spPr>
        <p:txBody>
          <a:bodyPr wrap="square" lIns="0" tIns="0" rIns="0" bIns="0" rtlCol="0" anchor="ctr"/>
          <a:lstStyle/>
          <a:p>
            <a:pPr algn="ctr" indent="0" marL="0">
              <a:buNone/>
            </a:pPr>
            <a:r>
              <a:rPr lang="en-US" sz="1200" b="1" dirty="0">
                <a:solidFill>
                  <a:schemeClr val="bg1"/>
                </a:solidFill>
              </a:rPr>
              <a:t>Passes</a:t>
            </a:r>
            <a:endParaRPr lang="en-US" sz="1200" dirty="0"/>
          </a:p>
        </p:txBody>
      </p:sp>
      <p:sp>
        <p:nvSpPr>
          <p:cNvPr id="26" name="result 2"/>
          <p:cNvSpPr/>
          <p:nvPr/>
        </p:nvSpPr>
        <p:spPr>
          <a:xfrm>
            <a:off x="5486400" y="2057400"/>
            <a:ext cx="3108960" cy="731520"/>
          </a:xfrm>
          <a:prstGeom prst="roundRect">
            <a:avLst>
              <a:gd name="adj" fmla="val 10000"/>
            </a:avLst>
          </a:prstGeom>
          <a:solidFill>
            <a:schemeClr val="bg2"/>
          </a:solidFill>
          <a:ln/>
        </p:spPr>
      </p:sp>
      <p:sp>
        <p:nvSpPr>
          <p:cNvPr id="27" name="Shape 22"/>
          <p:cNvSpPr/>
          <p:nvPr/>
        </p:nvSpPr>
        <p:spPr>
          <a:xfrm>
            <a:off x="5650992" y="2194560"/>
            <a:ext cx="457200" cy="457200"/>
          </a:xfrm>
          <a:prstGeom prst="ellipse">
            <a:avLst/>
          </a:prstGeom>
          <a:solidFill>
            <a:schemeClr val="bg1"/>
          </a:solidFill>
          <a:ln/>
        </p:spPr>
      </p:sp>
      <p:pic>
        <p:nvPicPr>
          <p:cNvPr id="28" name="Image 3" descr="preencoded.png">    </p:cNvPr>
          <p:cNvPicPr>
            <a:picLocks noChangeAspect="1"/>
          </p:cNvPicPr>
          <p:nvPr/>
        </p:nvPicPr>
        <p:blipFill>
          <a:blip r:embed="rId4"/>
          <a:stretch>
            <a:fillRect/>
          </a:stretch>
        </p:blipFill>
        <p:spPr>
          <a:xfrm>
            <a:off x="5765292" y="2308860"/>
            <a:ext cx="228600" cy="228600"/>
          </a:xfrm>
          <a:prstGeom prst="rect">
            <a:avLst/>
          </a:prstGeom>
        </p:spPr>
      </p:pic>
      <p:sp>
        <p:nvSpPr>
          <p:cNvPr id="29" name="Text 23"/>
          <p:cNvSpPr txBox="1"/>
          <p:nvPr/>
        </p:nvSpPr>
        <p:spPr>
          <a:xfrm>
            <a:off x="6263640" y="2194560"/>
            <a:ext cx="1371600" cy="457200"/>
          </a:xfrm>
          <a:prstGeom prst="rect">
            <a:avLst/>
          </a:prstGeom>
          <a:noFill/>
          <a:ln/>
        </p:spPr>
        <p:txBody>
          <a:bodyPr wrap="square" lIns="0" tIns="0" rIns="0" bIns="0" rtlCol="0" anchor="ctr"/>
          <a:lstStyle/>
          <a:p>
            <a:pPr indent="0" marL="0">
              <a:buNone/>
            </a:pPr>
            <a:r>
              <a:rPr lang="en-US" sz="1600" b="1" dirty="0">
                <a:solidFill>
                  <a:schemeClr val="tx1"/>
                </a:solidFill>
              </a:rPr>
              <a:t>Printed photo</a:t>
            </a:r>
            <a:endParaRPr lang="en-US" sz="1600" dirty="0"/>
          </a:p>
        </p:txBody>
      </p:sp>
      <p:sp>
        <p:nvSpPr>
          <p:cNvPr id="30" name="Shape 24"/>
          <p:cNvSpPr/>
          <p:nvPr/>
        </p:nvSpPr>
        <p:spPr>
          <a:xfrm>
            <a:off x="7635240" y="2276856"/>
            <a:ext cx="777240" cy="292608"/>
          </a:xfrm>
          <a:prstGeom prst="roundRect">
            <a:avLst>
              <a:gd name="adj" fmla="val 50000"/>
            </a:avLst>
          </a:prstGeom>
          <a:solidFill>
            <a:schemeClr val="accent3"/>
          </a:solidFill>
          <a:ln/>
        </p:spPr>
      </p:sp>
      <p:sp>
        <p:nvSpPr>
          <p:cNvPr id="31" name="Text 25"/>
          <p:cNvSpPr txBox="1"/>
          <p:nvPr/>
        </p:nvSpPr>
        <p:spPr>
          <a:xfrm>
            <a:off x="7635240" y="2276856"/>
            <a:ext cx="777240" cy="292608"/>
          </a:xfrm>
          <a:prstGeom prst="rect">
            <a:avLst/>
          </a:prstGeom>
          <a:noFill/>
          <a:ln/>
        </p:spPr>
        <p:txBody>
          <a:bodyPr wrap="square" lIns="0" tIns="0" rIns="0" bIns="0" rtlCol="0" anchor="ctr"/>
          <a:lstStyle/>
          <a:p>
            <a:pPr algn="ctr" indent="0" marL="0">
              <a:buNone/>
            </a:pPr>
            <a:r>
              <a:rPr lang="en-US" sz="1200" b="1" dirty="0">
                <a:solidFill>
                  <a:schemeClr val="bg1"/>
                </a:solidFill>
              </a:rPr>
              <a:t>Fails</a:t>
            </a:r>
            <a:endParaRPr lang="en-US" sz="1200" dirty="0"/>
          </a:p>
        </p:txBody>
      </p:sp>
      <p:sp>
        <p:nvSpPr>
          <p:cNvPr id="32" name="result 3"/>
          <p:cNvSpPr/>
          <p:nvPr/>
        </p:nvSpPr>
        <p:spPr>
          <a:xfrm>
            <a:off x="5486400" y="2926080"/>
            <a:ext cx="3108960" cy="731520"/>
          </a:xfrm>
          <a:prstGeom prst="roundRect">
            <a:avLst>
              <a:gd name="adj" fmla="val 10000"/>
            </a:avLst>
          </a:prstGeom>
          <a:solidFill>
            <a:schemeClr val="bg2"/>
          </a:solidFill>
          <a:ln/>
        </p:spPr>
      </p:sp>
      <p:sp>
        <p:nvSpPr>
          <p:cNvPr id="33" name="Shape 27"/>
          <p:cNvSpPr/>
          <p:nvPr/>
        </p:nvSpPr>
        <p:spPr>
          <a:xfrm>
            <a:off x="5650992" y="3063240"/>
            <a:ext cx="457200" cy="457200"/>
          </a:xfrm>
          <a:prstGeom prst="ellipse">
            <a:avLst/>
          </a:prstGeom>
          <a:solidFill>
            <a:schemeClr val="bg1"/>
          </a:solidFill>
          <a:ln/>
        </p:spPr>
      </p:sp>
      <p:pic>
        <p:nvPicPr>
          <p:cNvPr id="34" name="Image 4" descr="preencoded.png">    </p:cNvPr>
          <p:cNvPicPr>
            <a:picLocks noChangeAspect="1"/>
          </p:cNvPicPr>
          <p:nvPr/>
        </p:nvPicPr>
        <p:blipFill>
          <a:blip r:embed="rId5"/>
          <a:stretch>
            <a:fillRect/>
          </a:stretch>
        </p:blipFill>
        <p:spPr>
          <a:xfrm>
            <a:off x="5765292" y="3177540"/>
            <a:ext cx="228600" cy="228600"/>
          </a:xfrm>
          <a:prstGeom prst="rect">
            <a:avLst/>
          </a:prstGeom>
        </p:spPr>
      </p:pic>
      <p:sp>
        <p:nvSpPr>
          <p:cNvPr id="35" name="Text 28"/>
          <p:cNvSpPr txBox="1"/>
          <p:nvPr/>
        </p:nvSpPr>
        <p:spPr>
          <a:xfrm>
            <a:off x="6263640" y="3063240"/>
            <a:ext cx="1371600" cy="457200"/>
          </a:xfrm>
          <a:prstGeom prst="rect">
            <a:avLst/>
          </a:prstGeom>
          <a:noFill/>
          <a:ln/>
        </p:spPr>
        <p:txBody>
          <a:bodyPr wrap="square" lIns="0" tIns="0" rIns="0" bIns="0" rtlCol="0" anchor="ctr"/>
          <a:lstStyle/>
          <a:p>
            <a:pPr indent="0" marL="0">
              <a:buNone/>
            </a:pPr>
            <a:r>
              <a:rPr lang="en-US" sz="1600" b="1" dirty="0">
                <a:solidFill>
                  <a:schemeClr val="tx1"/>
                </a:solidFill>
              </a:rPr>
              <a:t>Replayed video</a:t>
            </a:r>
            <a:endParaRPr lang="en-US" sz="1600" dirty="0"/>
          </a:p>
        </p:txBody>
      </p:sp>
      <p:sp>
        <p:nvSpPr>
          <p:cNvPr id="36" name="Shape 29"/>
          <p:cNvSpPr/>
          <p:nvPr/>
        </p:nvSpPr>
        <p:spPr>
          <a:xfrm>
            <a:off x="7635240" y="3145536"/>
            <a:ext cx="777240" cy="292608"/>
          </a:xfrm>
          <a:prstGeom prst="roundRect">
            <a:avLst>
              <a:gd name="adj" fmla="val 50000"/>
            </a:avLst>
          </a:prstGeom>
          <a:solidFill>
            <a:schemeClr val="accent3"/>
          </a:solidFill>
          <a:ln/>
        </p:spPr>
      </p:sp>
      <p:sp>
        <p:nvSpPr>
          <p:cNvPr id="37" name="Text 30"/>
          <p:cNvSpPr txBox="1"/>
          <p:nvPr/>
        </p:nvSpPr>
        <p:spPr>
          <a:xfrm>
            <a:off x="7635240" y="3145536"/>
            <a:ext cx="777240" cy="292608"/>
          </a:xfrm>
          <a:prstGeom prst="rect">
            <a:avLst/>
          </a:prstGeom>
          <a:noFill/>
          <a:ln/>
        </p:spPr>
        <p:txBody>
          <a:bodyPr wrap="square" lIns="0" tIns="0" rIns="0" bIns="0" rtlCol="0" anchor="ctr"/>
          <a:lstStyle/>
          <a:p>
            <a:pPr algn="ctr" indent="0" marL="0">
              <a:buNone/>
            </a:pPr>
            <a:r>
              <a:rPr lang="en-US" sz="1200" b="1" dirty="0">
                <a:solidFill>
                  <a:schemeClr val="bg1"/>
                </a:solidFill>
              </a:rPr>
              <a:t>Fails</a:t>
            </a:r>
            <a:endParaRPr lang="en-US" sz="1200" dirty="0"/>
          </a:p>
        </p:txBody>
      </p:sp>
      <p:sp>
        <p:nvSpPr>
          <p:cNvPr id="38" name="Text 31"/>
          <p:cNvSpPr txBox="1"/>
          <p:nvPr/>
        </p:nvSpPr>
        <p:spPr>
          <a:xfrm>
            <a:off x="5486400" y="3840480"/>
            <a:ext cx="3108960" cy="548640"/>
          </a:xfrm>
          <a:prstGeom prst="rect">
            <a:avLst/>
          </a:prstGeom>
          <a:noFill/>
          <a:ln/>
        </p:spPr>
        <p:txBody>
          <a:bodyPr wrap="square" lIns="0" tIns="0" rIns="0" bIns="0" rtlCol="0" anchor="t"/>
          <a:lstStyle/>
          <a:p>
            <a:pPr indent="0" marL="0">
              <a:buNone/>
            </a:pPr>
            <a:r>
              <a:rPr lang="en-US" sz="1400" i="1" dirty="0">
                <a:solidFill>
                  <a:schemeClr val="accent1"/>
                </a:solidFill>
              </a:rPr>
              <a:t>Your own sign + one random sign, in a new order every time.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Add a new device. Lock out the lost one</a:t>
            </a:r>
            <a:endParaRPr lang="en-US" sz="3000" dirty="0"/>
          </a:p>
        </p:txBody>
      </p:sp>
      <p:sp>
        <p:nvSpPr>
          <p:cNvPr id="3" name="browser frame"/>
          <p:cNvSpPr/>
          <p:nvPr/>
        </p:nvSpPr>
        <p:spPr>
          <a:xfrm>
            <a:off x="548640" y="1188720"/>
            <a:ext cx="2377440" cy="2514600"/>
          </a:xfrm>
          <a:prstGeom prst="roundRect">
            <a:avLst>
              <a:gd name="adj" fmla="val 3077"/>
            </a:avLst>
          </a:prstGeom>
          <a:solidFill>
            <a:schemeClr val="bg1"/>
          </a:solidFill>
          <a:ln w="9525">
            <a:solidFill>
              <a:srgbClr val="CBD5E1"/>
            </a:solidFill>
            <a:prstDash val="solid"/>
          </a:ln>
        </p:spPr>
      </p:sp>
      <p:sp>
        <p:nvSpPr>
          <p:cNvPr id="4" name="Shape 2"/>
          <p:cNvSpPr/>
          <p:nvPr/>
        </p:nvSpPr>
        <p:spPr>
          <a:xfrm>
            <a:off x="731520" y="1344168"/>
            <a:ext cx="109728" cy="109728"/>
          </a:xfrm>
          <a:prstGeom prst="ellipse">
            <a:avLst/>
          </a:prstGeom>
          <a:solidFill>
            <a:srgbClr val="CBD5E1"/>
          </a:solidFill>
          <a:ln/>
        </p:spPr>
      </p:sp>
      <p:sp>
        <p:nvSpPr>
          <p:cNvPr id="5" name="Shape 3"/>
          <p:cNvSpPr/>
          <p:nvPr/>
        </p:nvSpPr>
        <p:spPr>
          <a:xfrm>
            <a:off x="914400" y="1344168"/>
            <a:ext cx="109728" cy="109728"/>
          </a:xfrm>
          <a:prstGeom prst="ellipse">
            <a:avLst/>
          </a:prstGeom>
          <a:solidFill>
            <a:srgbClr val="CBD5E1"/>
          </a:solidFill>
          <a:ln/>
        </p:spPr>
      </p:sp>
      <p:sp>
        <p:nvSpPr>
          <p:cNvPr id="6" name="Shape 4"/>
          <p:cNvSpPr/>
          <p:nvPr/>
        </p:nvSpPr>
        <p:spPr>
          <a:xfrm>
            <a:off x="1097280" y="1344168"/>
            <a:ext cx="109728" cy="109728"/>
          </a:xfrm>
          <a:prstGeom prst="ellipse">
            <a:avLst/>
          </a:prstGeom>
          <a:solidFill>
            <a:srgbClr val="CBD5E1"/>
          </a:solidFill>
          <a:ln/>
        </p:spPr>
      </p:sp>
      <p:sp>
        <p:nvSpPr>
          <p:cNvPr id="7" name="Shape 5"/>
          <p:cNvSpPr/>
          <p:nvPr/>
        </p:nvSpPr>
        <p:spPr>
          <a:xfrm>
            <a:off x="1371600" y="1280160"/>
            <a:ext cx="1371600" cy="246888"/>
          </a:xfrm>
          <a:prstGeom prst="roundRect">
            <a:avLst>
              <a:gd name="adj" fmla="val 48148"/>
            </a:avLst>
          </a:prstGeom>
          <a:solidFill>
            <a:schemeClr val="accent5"/>
          </a:solidFill>
          <a:ln/>
        </p:spPr>
      </p:sp>
      <p:sp>
        <p:nvSpPr>
          <p:cNvPr id="8" name="Text 6"/>
          <p:cNvSpPr txBox="1"/>
          <p:nvPr/>
        </p:nvSpPr>
        <p:spPr>
          <a:xfrm>
            <a:off x="1508760" y="1280160"/>
            <a:ext cx="1188720" cy="246888"/>
          </a:xfrm>
          <a:prstGeom prst="rect">
            <a:avLst/>
          </a:prstGeom>
          <a:noFill/>
          <a:ln/>
        </p:spPr>
        <p:txBody>
          <a:bodyPr wrap="square" lIns="0" tIns="0" rIns="0" bIns="0" rtlCol="0" anchor="ctr"/>
          <a:lstStyle/>
          <a:p>
            <a:pPr indent="0" marL="0">
              <a:buNone/>
            </a:pPr>
            <a:r>
              <a:rPr lang="en-US" sz="1100" b="1" dirty="0">
                <a:solidFill>
                  <a:schemeClr val="accent1"/>
                </a:solidFill>
              </a:rPr>
              <a:t>secure.app/link</a:t>
            </a:r>
            <a:endParaRPr lang="en-US" sz="1100" dirty="0"/>
          </a:p>
        </p:txBody>
      </p:sp>
      <p:sp>
        <p:nvSpPr>
          <p:cNvPr id="9" name="Shape 7"/>
          <p:cNvSpPr/>
          <p:nvPr/>
        </p:nvSpPr>
        <p:spPr>
          <a:xfrm>
            <a:off x="548640" y="1618488"/>
            <a:ext cx="2377440" cy="0"/>
          </a:xfrm>
          <a:prstGeom prst="line">
            <a:avLst/>
          </a:prstGeom>
          <a:noFill/>
          <a:ln w="9525">
            <a:solidFill>
              <a:srgbClr val="CBD5E1"/>
            </a:solidFill>
            <a:prstDash val="solid"/>
          </a:ln>
        </p:spPr>
      </p:sp>
      <p:sp>
        <p:nvSpPr>
          <p:cNvPr id="10" name="Text 8"/>
          <p:cNvSpPr txBox="1"/>
          <p:nvPr/>
        </p:nvSpPr>
        <p:spPr>
          <a:xfrm>
            <a:off x="548640" y="1755648"/>
            <a:ext cx="2377440" cy="274320"/>
          </a:xfrm>
          <a:prstGeom prst="rect">
            <a:avLst/>
          </a:prstGeom>
          <a:noFill/>
          <a:ln/>
        </p:spPr>
        <p:txBody>
          <a:bodyPr wrap="square" lIns="0" tIns="0" rIns="0" bIns="0" rtlCol="0" anchor="t"/>
          <a:lstStyle/>
          <a:p>
            <a:pPr algn="ctr" indent="0" marL="0">
              <a:buNone/>
            </a:pPr>
            <a:r>
              <a:rPr lang="en-US" sz="1300" b="1" dirty="0">
                <a:solidFill>
                  <a:schemeClr val="tx1"/>
                </a:solidFill>
              </a:rPr>
              <a:t>Add this device</a:t>
            </a:r>
            <a:endParaRPr lang="en-US" sz="1300" dirty="0"/>
          </a:p>
        </p:txBody>
      </p:sp>
      <p:pic>
        <p:nvPicPr>
          <p:cNvPr id="11" name="qr" descr="preencoded.png">    </p:cNvPr>
          <p:cNvPicPr>
            <a:picLocks noChangeAspect="1"/>
          </p:cNvPicPr>
          <p:nvPr/>
        </p:nvPicPr>
        <p:blipFill>
          <a:blip r:embed="rId1"/>
          <a:stretch>
            <a:fillRect/>
          </a:stretch>
        </p:blipFill>
        <p:spPr>
          <a:xfrm>
            <a:off x="1188720" y="2121408"/>
            <a:ext cx="1097280" cy="1097280"/>
          </a:xfrm>
          <a:prstGeom prst="rect">
            <a:avLst/>
          </a:prstGeom>
        </p:spPr>
      </p:pic>
      <p:sp>
        <p:nvSpPr>
          <p:cNvPr id="12" name="Text 9"/>
          <p:cNvSpPr txBox="1"/>
          <p:nvPr/>
        </p:nvSpPr>
        <p:spPr>
          <a:xfrm>
            <a:off x="640080" y="3310128"/>
            <a:ext cx="2194560" cy="274320"/>
          </a:xfrm>
          <a:prstGeom prst="rect">
            <a:avLst/>
          </a:prstGeom>
          <a:noFill/>
          <a:ln/>
        </p:spPr>
        <p:txBody>
          <a:bodyPr wrap="square" lIns="0" tIns="0" rIns="0" bIns="0" rtlCol="0" anchor="t"/>
          <a:lstStyle/>
          <a:p>
            <a:pPr algn="ctr" indent="0" marL="0">
              <a:buNone/>
            </a:pPr>
            <a:r>
              <a:rPr lang="en-US" sz="1000" dirty="0">
                <a:solidFill>
                  <a:schemeClr val="tx2"/>
                </a:solidFill>
              </a:rPr>
              <a:t>Scan with a phone you trust</a:t>
            </a:r>
            <a:endParaRPr lang="en-US" sz="1000" dirty="0"/>
          </a:p>
        </p:txBody>
      </p:sp>
      <p:sp>
        <p:nvSpPr>
          <p:cNvPr id="13" name="Shape 10"/>
          <p:cNvSpPr/>
          <p:nvPr/>
        </p:nvSpPr>
        <p:spPr>
          <a:xfrm>
            <a:off x="3017520" y="2468880"/>
            <a:ext cx="411480" cy="0"/>
          </a:xfrm>
          <a:prstGeom prst="line">
            <a:avLst/>
          </a:prstGeom>
          <a:noFill/>
          <a:ln w="15875">
            <a:solidFill>
              <a:srgbClr val="64748B"/>
            </a:solidFill>
            <a:prstDash val="solid"/>
            <a:tailEnd type="triangle"/>
          </a:ln>
        </p:spPr>
      </p:sp>
      <p:sp>
        <p:nvSpPr>
          <p:cNvPr id="14" name="phone frame"/>
          <p:cNvSpPr/>
          <p:nvPr/>
        </p:nvSpPr>
        <p:spPr>
          <a:xfrm>
            <a:off x="3520440" y="1188720"/>
            <a:ext cx="1463040" cy="2514600"/>
          </a:xfrm>
          <a:prstGeom prst="roundRect">
            <a:avLst>
              <a:gd name="adj" fmla="val 13750"/>
            </a:avLst>
          </a:prstGeom>
          <a:solidFill>
            <a:schemeClr val="tx1"/>
          </a:solidFill>
          <a:ln/>
        </p:spPr>
      </p:sp>
      <p:sp>
        <p:nvSpPr>
          <p:cNvPr id="15" name="Shape 12"/>
          <p:cNvSpPr/>
          <p:nvPr/>
        </p:nvSpPr>
        <p:spPr>
          <a:xfrm>
            <a:off x="3584448" y="1252728"/>
            <a:ext cx="1335024" cy="2386584"/>
          </a:xfrm>
          <a:prstGeom prst="roundRect">
            <a:avLst>
              <a:gd name="adj" fmla="val 11644"/>
            </a:avLst>
          </a:prstGeom>
          <a:solidFill>
            <a:schemeClr val="bg1"/>
          </a:solidFill>
          <a:ln/>
        </p:spPr>
      </p:sp>
      <p:sp>
        <p:nvSpPr>
          <p:cNvPr id="16" name="Shape 13"/>
          <p:cNvSpPr/>
          <p:nvPr/>
        </p:nvSpPr>
        <p:spPr>
          <a:xfrm>
            <a:off x="3977640" y="1325880"/>
            <a:ext cx="548640" cy="91440"/>
          </a:xfrm>
          <a:prstGeom prst="roundRect">
            <a:avLst>
              <a:gd name="adj" fmla="val 50000"/>
            </a:avLst>
          </a:prstGeom>
          <a:solidFill>
            <a:schemeClr val="tx1"/>
          </a:solidFill>
          <a:ln/>
        </p:spPr>
      </p:sp>
      <p:sp>
        <p:nvSpPr>
          <p:cNvPr id="17" name="Text 14"/>
          <p:cNvSpPr txBox="1"/>
          <p:nvPr/>
        </p:nvSpPr>
        <p:spPr>
          <a:xfrm>
            <a:off x="3675888" y="1664208"/>
            <a:ext cx="1152144" cy="411480"/>
          </a:xfrm>
          <a:prstGeom prst="rect">
            <a:avLst/>
          </a:prstGeom>
          <a:noFill/>
          <a:ln/>
        </p:spPr>
        <p:txBody>
          <a:bodyPr wrap="square" lIns="0" tIns="0" rIns="0" bIns="0" rtlCol="0" anchor="t"/>
          <a:lstStyle/>
          <a:p>
            <a:pPr algn="ctr" indent="0" marL="0">
              <a:buNone/>
            </a:pPr>
            <a:r>
              <a:rPr lang="en-US" sz="1200" b="1" dirty="0">
                <a:solidFill>
                  <a:schemeClr val="tx1"/>
                </a:solidFill>
              </a:rPr>
              <a:t>Approve new device?</a:t>
            </a:r>
            <a:endParaRPr lang="en-US" sz="1200" dirty="0"/>
          </a:p>
        </p:txBody>
      </p:sp>
      <p:sp>
        <p:nvSpPr>
          <p:cNvPr id="18" name="Shape 15"/>
          <p:cNvSpPr/>
          <p:nvPr/>
        </p:nvSpPr>
        <p:spPr>
          <a:xfrm>
            <a:off x="3977640" y="2212848"/>
            <a:ext cx="548640" cy="548640"/>
          </a:xfrm>
          <a:prstGeom prst="ellipse">
            <a:avLst/>
          </a:prstGeom>
          <a:solidFill>
            <a:schemeClr val="accent5"/>
          </a:solidFill>
          <a:ln/>
        </p:spPr>
      </p:sp>
      <p:pic>
        <p:nvPicPr>
          <p:cNvPr id="19" name="Image 1" descr="preencoded.png">    </p:cNvPr>
          <p:cNvPicPr>
            <a:picLocks noChangeAspect="1"/>
          </p:cNvPicPr>
          <p:nvPr/>
        </p:nvPicPr>
        <p:blipFill>
          <a:blip r:embed="rId2"/>
          <a:stretch>
            <a:fillRect/>
          </a:stretch>
        </p:blipFill>
        <p:spPr>
          <a:xfrm>
            <a:off x="4101084" y="2336292"/>
            <a:ext cx="301752" cy="301752"/>
          </a:xfrm>
          <a:prstGeom prst="rect">
            <a:avLst/>
          </a:prstGeom>
        </p:spPr>
      </p:pic>
      <p:sp>
        <p:nvSpPr>
          <p:cNvPr id="20" name="Shape 16"/>
          <p:cNvSpPr/>
          <p:nvPr/>
        </p:nvSpPr>
        <p:spPr>
          <a:xfrm>
            <a:off x="3721608" y="2944368"/>
            <a:ext cx="1060704" cy="292608"/>
          </a:xfrm>
          <a:prstGeom prst="roundRect">
            <a:avLst>
              <a:gd name="adj" fmla="val 18750"/>
            </a:avLst>
          </a:prstGeom>
          <a:solidFill>
            <a:schemeClr val="accent1"/>
          </a:solidFill>
          <a:ln/>
        </p:spPr>
      </p:sp>
      <p:sp>
        <p:nvSpPr>
          <p:cNvPr id="21" name="Text 17"/>
          <p:cNvSpPr txBox="1"/>
          <p:nvPr/>
        </p:nvSpPr>
        <p:spPr>
          <a:xfrm>
            <a:off x="3721608" y="2944368"/>
            <a:ext cx="1060704" cy="292608"/>
          </a:xfrm>
          <a:prstGeom prst="rect">
            <a:avLst/>
          </a:prstGeom>
          <a:noFill/>
          <a:ln/>
        </p:spPr>
        <p:txBody>
          <a:bodyPr wrap="square" lIns="0" tIns="0" rIns="0" bIns="0" rtlCol="0" anchor="ctr"/>
          <a:lstStyle/>
          <a:p>
            <a:pPr algn="ctr" indent="0" marL="0">
              <a:buNone/>
            </a:pPr>
            <a:r>
              <a:rPr lang="en-US" sz="1100" b="1" dirty="0">
                <a:solidFill>
                  <a:schemeClr val="bg1"/>
                </a:solidFill>
              </a:rPr>
              <a:t>Approve</a:t>
            </a:r>
            <a:endParaRPr lang="en-US" sz="1100" dirty="0"/>
          </a:p>
        </p:txBody>
      </p:sp>
      <p:sp>
        <p:nvSpPr>
          <p:cNvPr id="22" name="device list"/>
          <p:cNvSpPr/>
          <p:nvPr/>
        </p:nvSpPr>
        <p:spPr>
          <a:xfrm>
            <a:off x="5349240" y="1188720"/>
            <a:ext cx="3246120" cy="2514600"/>
          </a:xfrm>
          <a:prstGeom prst="roundRect">
            <a:avLst>
              <a:gd name="adj" fmla="val 2909"/>
            </a:avLst>
          </a:prstGeom>
          <a:solidFill>
            <a:schemeClr val="bg2"/>
          </a:solidFill>
          <a:ln/>
        </p:spPr>
      </p:sp>
      <p:sp>
        <p:nvSpPr>
          <p:cNvPr id="23" name="Text 19"/>
          <p:cNvSpPr txBox="1"/>
          <p:nvPr/>
        </p:nvSpPr>
        <p:spPr>
          <a:xfrm>
            <a:off x="5532120" y="1325880"/>
            <a:ext cx="2743200" cy="274320"/>
          </a:xfrm>
          <a:prstGeom prst="rect">
            <a:avLst/>
          </a:prstGeom>
          <a:noFill/>
          <a:ln/>
        </p:spPr>
        <p:txBody>
          <a:bodyPr wrap="square" lIns="0" tIns="0" rIns="0" bIns="0" rtlCol="0" anchor="t"/>
          <a:lstStyle/>
          <a:p>
            <a:pPr indent="0" marL="0">
              <a:buNone/>
            </a:pPr>
            <a:r>
              <a:rPr lang="en-US" sz="1500" b="1" dirty="0">
                <a:solidFill>
                  <a:schemeClr val="tx1"/>
                </a:solidFill>
              </a:rPr>
              <a:t>Your devices</a:t>
            </a:r>
            <a:endParaRPr lang="en-US" sz="1500" dirty="0"/>
          </a:p>
        </p:txBody>
      </p:sp>
      <p:sp>
        <p:nvSpPr>
          <p:cNvPr id="24" name="Shape 20"/>
          <p:cNvSpPr/>
          <p:nvPr/>
        </p:nvSpPr>
        <p:spPr>
          <a:xfrm>
            <a:off x="5532120" y="1737360"/>
            <a:ext cx="2880360" cy="512064"/>
          </a:xfrm>
          <a:prstGeom prst="roundRect">
            <a:avLst>
              <a:gd name="adj" fmla="val 10714"/>
            </a:avLst>
          </a:prstGeom>
          <a:solidFill>
            <a:schemeClr val="bg1"/>
          </a:solidFill>
          <a:ln/>
        </p:spPr>
      </p:sp>
      <p:pic>
        <p:nvPicPr>
          <p:cNvPr id="25" name="Image 2" descr="preencoded.png">    </p:cNvPr>
          <p:cNvPicPr>
            <a:picLocks noChangeAspect="1"/>
          </p:cNvPicPr>
          <p:nvPr/>
        </p:nvPicPr>
        <p:blipFill>
          <a:blip r:embed="rId3"/>
          <a:stretch>
            <a:fillRect/>
          </a:stretch>
        </p:blipFill>
        <p:spPr>
          <a:xfrm>
            <a:off x="5650992" y="1865376"/>
            <a:ext cx="256032" cy="256032"/>
          </a:xfrm>
          <a:prstGeom prst="rect">
            <a:avLst/>
          </a:prstGeom>
        </p:spPr>
      </p:pic>
      <p:sp>
        <p:nvSpPr>
          <p:cNvPr id="26" name="Text 21"/>
          <p:cNvSpPr txBox="1"/>
          <p:nvPr/>
        </p:nvSpPr>
        <p:spPr>
          <a:xfrm>
            <a:off x="5989320" y="1737360"/>
            <a:ext cx="1188720" cy="512064"/>
          </a:xfrm>
          <a:prstGeom prst="rect">
            <a:avLst/>
          </a:prstGeom>
          <a:noFill/>
          <a:ln/>
        </p:spPr>
        <p:txBody>
          <a:bodyPr wrap="square" lIns="0" tIns="0" rIns="0" bIns="0" rtlCol="0" anchor="ctr"/>
          <a:lstStyle/>
          <a:p>
            <a:pPr indent="0" marL="0">
              <a:buNone/>
            </a:pPr>
            <a:r>
              <a:rPr lang="en-US" sz="1300" b="1" dirty="0">
                <a:solidFill>
                  <a:schemeClr val="tx1"/>
                </a:solidFill>
              </a:rPr>
              <a:t>Pixel phone</a:t>
            </a:r>
            <a:endParaRPr lang="en-US" sz="1300" dirty="0"/>
          </a:p>
        </p:txBody>
      </p:sp>
      <p:sp>
        <p:nvSpPr>
          <p:cNvPr id="27" name="Shape 22"/>
          <p:cNvSpPr/>
          <p:nvPr/>
        </p:nvSpPr>
        <p:spPr>
          <a:xfrm>
            <a:off x="7178040" y="1865376"/>
            <a:ext cx="1097280" cy="256032"/>
          </a:xfrm>
          <a:prstGeom prst="roundRect">
            <a:avLst>
              <a:gd name="adj" fmla="val 50000"/>
            </a:avLst>
          </a:prstGeom>
          <a:solidFill>
            <a:schemeClr val="accent5"/>
          </a:solidFill>
          <a:ln/>
        </p:spPr>
      </p:sp>
      <p:sp>
        <p:nvSpPr>
          <p:cNvPr id="28" name="Text 23"/>
          <p:cNvSpPr txBox="1"/>
          <p:nvPr/>
        </p:nvSpPr>
        <p:spPr>
          <a:xfrm>
            <a:off x="7178040" y="1865376"/>
            <a:ext cx="1097280" cy="256032"/>
          </a:xfrm>
          <a:prstGeom prst="rect">
            <a:avLst/>
          </a:prstGeom>
          <a:noFill/>
          <a:ln/>
        </p:spPr>
        <p:txBody>
          <a:bodyPr wrap="square" lIns="0" tIns="0" rIns="0" bIns="0" rtlCol="0" anchor="ctr"/>
          <a:lstStyle/>
          <a:p>
            <a:pPr algn="ctr" indent="0" marL="0">
              <a:buNone/>
            </a:pPr>
            <a:r>
              <a:rPr lang="en-US" sz="1000" b="1" dirty="0">
                <a:solidFill>
                  <a:schemeClr val="accent1"/>
                </a:solidFill>
              </a:rPr>
              <a:t>This device</a:t>
            </a:r>
            <a:endParaRPr lang="en-US" sz="1000" dirty="0"/>
          </a:p>
        </p:txBody>
      </p:sp>
      <p:sp>
        <p:nvSpPr>
          <p:cNvPr id="29" name="Shape 24"/>
          <p:cNvSpPr/>
          <p:nvPr/>
        </p:nvSpPr>
        <p:spPr>
          <a:xfrm>
            <a:off x="5532120" y="2359152"/>
            <a:ext cx="2880360" cy="512064"/>
          </a:xfrm>
          <a:prstGeom prst="roundRect">
            <a:avLst>
              <a:gd name="adj" fmla="val 10714"/>
            </a:avLst>
          </a:prstGeom>
          <a:solidFill>
            <a:schemeClr val="bg1"/>
          </a:solidFill>
          <a:ln/>
        </p:spPr>
      </p:sp>
      <p:pic>
        <p:nvPicPr>
          <p:cNvPr id="30" name="Image 3" descr="preencoded.png">    </p:cNvPr>
          <p:cNvPicPr>
            <a:picLocks noChangeAspect="1"/>
          </p:cNvPicPr>
          <p:nvPr/>
        </p:nvPicPr>
        <p:blipFill>
          <a:blip r:embed="rId4"/>
          <a:stretch>
            <a:fillRect/>
          </a:stretch>
        </p:blipFill>
        <p:spPr>
          <a:xfrm>
            <a:off x="5650992" y="2487168"/>
            <a:ext cx="256032" cy="256032"/>
          </a:xfrm>
          <a:prstGeom prst="rect">
            <a:avLst/>
          </a:prstGeom>
        </p:spPr>
      </p:pic>
      <p:sp>
        <p:nvSpPr>
          <p:cNvPr id="31" name="Text 25"/>
          <p:cNvSpPr txBox="1"/>
          <p:nvPr/>
        </p:nvSpPr>
        <p:spPr>
          <a:xfrm>
            <a:off x="5989320" y="2359152"/>
            <a:ext cx="1188720" cy="512064"/>
          </a:xfrm>
          <a:prstGeom prst="rect">
            <a:avLst/>
          </a:prstGeom>
          <a:noFill/>
          <a:ln/>
        </p:spPr>
        <p:txBody>
          <a:bodyPr wrap="square" lIns="0" tIns="0" rIns="0" bIns="0" rtlCol="0" anchor="ctr"/>
          <a:lstStyle/>
          <a:p>
            <a:pPr indent="0" marL="0">
              <a:buNone/>
            </a:pPr>
            <a:r>
              <a:rPr lang="en-US" sz="1300" b="1" dirty="0">
                <a:solidFill>
                  <a:schemeClr val="tx1"/>
                </a:solidFill>
              </a:rPr>
              <a:t>Work laptop</a:t>
            </a:r>
            <a:endParaRPr lang="en-US" sz="1300" dirty="0"/>
          </a:p>
        </p:txBody>
      </p:sp>
      <p:sp>
        <p:nvSpPr>
          <p:cNvPr id="32" name="Shape 26"/>
          <p:cNvSpPr/>
          <p:nvPr/>
        </p:nvSpPr>
        <p:spPr>
          <a:xfrm>
            <a:off x="7178040" y="2487168"/>
            <a:ext cx="1097280" cy="256032"/>
          </a:xfrm>
          <a:prstGeom prst="roundRect">
            <a:avLst>
              <a:gd name="adj" fmla="val 50000"/>
            </a:avLst>
          </a:prstGeom>
          <a:solidFill>
            <a:schemeClr val="accent5"/>
          </a:solidFill>
          <a:ln/>
        </p:spPr>
      </p:sp>
      <p:sp>
        <p:nvSpPr>
          <p:cNvPr id="33" name="Text 27"/>
          <p:cNvSpPr txBox="1"/>
          <p:nvPr/>
        </p:nvSpPr>
        <p:spPr>
          <a:xfrm>
            <a:off x="7178040" y="2487168"/>
            <a:ext cx="1097280" cy="256032"/>
          </a:xfrm>
          <a:prstGeom prst="rect">
            <a:avLst/>
          </a:prstGeom>
          <a:noFill/>
          <a:ln/>
        </p:spPr>
        <p:txBody>
          <a:bodyPr wrap="square" lIns="0" tIns="0" rIns="0" bIns="0" rtlCol="0" anchor="ctr"/>
          <a:lstStyle/>
          <a:p>
            <a:pPr algn="ctr" indent="0" marL="0">
              <a:buNone/>
            </a:pPr>
            <a:r>
              <a:rPr lang="en-US" sz="1000" b="1" dirty="0">
                <a:solidFill>
                  <a:schemeClr val="accent1"/>
                </a:solidFill>
              </a:rPr>
              <a:t>Added just now</a:t>
            </a:r>
            <a:endParaRPr lang="en-US" sz="1000" dirty="0"/>
          </a:p>
        </p:txBody>
      </p:sp>
      <p:sp>
        <p:nvSpPr>
          <p:cNvPr id="34" name="Shape 28"/>
          <p:cNvSpPr/>
          <p:nvPr/>
        </p:nvSpPr>
        <p:spPr>
          <a:xfrm>
            <a:off x="5532120" y="2980944"/>
            <a:ext cx="2880360" cy="512064"/>
          </a:xfrm>
          <a:prstGeom prst="roundRect">
            <a:avLst>
              <a:gd name="adj" fmla="val 10714"/>
            </a:avLst>
          </a:prstGeom>
          <a:solidFill>
            <a:schemeClr val="bg1"/>
          </a:solidFill>
          <a:ln/>
        </p:spPr>
      </p:sp>
      <p:pic>
        <p:nvPicPr>
          <p:cNvPr id="35" name="Image 4" descr="preencoded.png">    </p:cNvPr>
          <p:cNvPicPr>
            <a:picLocks noChangeAspect="1"/>
          </p:cNvPicPr>
          <p:nvPr/>
        </p:nvPicPr>
        <p:blipFill>
          <a:blip r:embed="rId5"/>
          <a:stretch>
            <a:fillRect/>
          </a:stretch>
        </p:blipFill>
        <p:spPr>
          <a:xfrm>
            <a:off x="5650992" y="3108960"/>
            <a:ext cx="256032" cy="256032"/>
          </a:xfrm>
          <a:prstGeom prst="rect">
            <a:avLst/>
          </a:prstGeom>
        </p:spPr>
      </p:pic>
      <p:sp>
        <p:nvSpPr>
          <p:cNvPr id="36" name="Text 29"/>
          <p:cNvSpPr txBox="1"/>
          <p:nvPr/>
        </p:nvSpPr>
        <p:spPr>
          <a:xfrm>
            <a:off x="5989320" y="2980944"/>
            <a:ext cx="1188720" cy="512064"/>
          </a:xfrm>
          <a:prstGeom prst="rect">
            <a:avLst/>
          </a:prstGeom>
          <a:noFill/>
          <a:ln/>
        </p:spPr>
        <p:txBody>
          <a:bodyPr wrap="square" lIns="0" tIns="0" rIns="0" bIns="0" rtlCol="0" anchor="ctr"/>
          <a:lstStyle/>
          <a:p>
            <a:pPr indent="0" marL="0">
              <a:buNone/>
            </a:pPr>
            <a:r>
              <a:rPr lang="en-US" sz="1300" b="1" strike="sngStrike" dirty="0">
                <a:solidFill>
                  <a:schemeClr val="tx2"/>
                </a:solidFill>
              </a:rPr>
              <a:t>Old phone</a:t>
            </a:r>
            <a:endParaRPr lang="en-US" sz="1300" dirty="0"/>
          </a:p>
        </p:txBody>
      </p:sp>
      <p:sp>
        <p:nvSpPr>
          <p:cNvPr id="37" name="Shape 30"/>
          <p:cNvSpPr/>
          <p:nvPr/>
        </p:nvSpPr>
        <p:spPr>
          <a:xfrm>
            <a:off x="7178040" y="3108960"/>
            <a:ext cx="1097280" cy="256032"/>
          </a:xfrm>
          <a:prstGeom prst="roundRect">
            <a:avLst>
              <a:gd name="adj" fmla="val 50000"/>
            </a:avLst>
          </a:prstGeom>
          <a:solidFill>
            <a:schemeClr val="accent6"/>
          </a:solidFill>
          <a:ln/>
        </p:spPr>
      </p:sp>
      <p:sp>
        <p:nvSpPr>
          <p:cNvPr id="38" name="Text 31"/>
          <p:cNvSpPr txBox="1"/>
          <p:nvPr/>
        </p:nvSpPr>
        <p:spPr>
          <a:xfrm>
            <a:off x="7178040" y="3108960"/>
            <a:ext cx="1097280" cy="256032"/>
          </a:xfrm>
          <a:prstGeom prst="rect">
            <a:avLst/>
          </a:prstGeom>
          <a:noFill/>
          <a:ln/>
        </p:spPr>
        <p:txBody>
          <a:bodyPr wrap="square" lIns="0" tIns="0" rIns="0" bIns="0" rtlCol="0" anchor="ctr"/>
          <a:lstStyle/>
          <a:p>
            <a:pPr algn="ctr" indent="0" marL="0">
              <a:buNone/>
            </a:pPr>
            <a:r>
              <a:rPr lang="en-US" sz="1000" b="1" dirty="0">
                <a:solidFill>
                  <a:schemeClr val="accent3"/>
                </a:solidFill>
              </a:rPr>
              <a:t>Removed</a:t>
            </a:r>
            <a:endParaRPr lang="en-US" sz="1000" dirty="0"/>
          </a:p>
        </p:txBody>
      </p:sp>
      <p:sp>
        <p:nvSpPr>
          <p:cNvPr id="39" name="Text 32"/>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dirty="0">
                <a:solidFill>
                  <a:schemeClr val="tx2"/>
                </a:solidFill>
              </a:rPr>
              <a:t>Removing a device needs a fresh unlock. Its key and sessions stop working at once.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We attacked our own app. Every attack failed</a:t>
            </a:r>
            <a:endParaRPr lang="en-US" sz="3000" dirty="0"/>
          </a:p>
        </p:txBody>
      </p:sp>
      <p:sp>
        <p:nvSpPr>
          <p:cNvPr id="3" name="attack 1"/>
          <p:cNvSpPr/>
          <p:nvPr/>
        </p:nvSpPr>
        <p:spPr>
          <a:xfrm>
            <a:off x="548640" y="1188720"/>
            <a:ext cx="5120640" cy="548640"/>
          </a:xfrm>
          <a:prstGeom prst="roundRect">
            <a:avLst>
              <a:gd name="adj" fmla="val 13333"/>
            </a:avLst>
          </a:prstGeom>
          <a:solidFill>
            <a:schemeClr val="bg2"/>
          </a:solidFill>
          <a:ln/>
        </p:spPr>
      </p:sp>
      <p:sp>
        <p:nvSpPr>
          <p:cNvPr id="4" name="Shape 2"/>
          <p:cNvSpPr/>
          <p:nvPr/>
        </p:nvSpPr>
        <p:spPr>
          <a:xfrm>
            <a:off x="658368" y="1280160"/>
            <a:ext cx="365760" cy="365760"/>
          </a:xfrm>
          <a:prstGeom prst="ellipse">
            <a:avLst/>
          </a:prstGeom>
          <a:solidFill>
            <a:schemeClr val="accent3"/>
          </a:solidFill>
          <a:ln/>
        </p:spPr>
      </p:sp>
      <p:pic>
        <p:nvPicPr>
          <p:cNvPr id="5" name="Image 0" descr="preencoded.png">    </p:cNvPr>
          <p:cNvPicPr>
            <a:picLocks noChangeAspect="1"/>
          </p:cNvPicPr>
          <p:nvPr/>
        </p:nvPicPr>
        <p:blipFill>
          <a:blip r:embed="rId1"/>
          <a:stretch>
            <a:fillRect/>
          </a:stretch>
        </p:blipFill>
        <p:spPr>
          <a:xfrm>
            <a:off x="740664" y="1362456"/>
            <a:ext cx="201168" cy="201168"/>
          </a:xfrm>
          <a:prstGeom prst="rect">
            <a:avLst/>
          </a:prstGeom>
        </p:spPr>
      </p:pic>
      <p:sp>
        <p:nvSpPr>
          <p:cNvPr id="6" name="Text 3"/>
          <p:cNvSpPr txBox="1"/>
          <p:nvPr/>
        </p:nvSpPr>
        <p:spPr>
          <a:xfrm>
            <a:off x="1188720" y="1188720"/>
            <a:ext cx="2926080" cy="548640"/>
          </a:xfrm>
          <a:prstGeom prst="rect">
            <a:avLst/>
          </a:prstGeom>
          <a:noFill/>
          <a:ln/>
        </p:spPr>
        <p:txBody>
          <a:bodyPr wrap="square" lIns="0" tIns="0" rIns="0" bIns="0" rtlCol="0" anchor="ctr"/>
          <a:lstStyle/>
          <a:p>
            <a:pPr indent="0" marL="0">
              <a:buNone/>
            </a:pPr>
            <a:r>
              <a:rPr lang="en-US" sz="1500" b="1" dirty="0">
                <a:solidFill>
                  <a:schemeClr val="tx1"/>
                </a:solidFill>
              </a:rPr>
              <a:t>Ask for the real site's passkey</a:t>
            </a:r>
            <a:endParaRPr lang="en-US" sz="1500" dirty="0"/>
          </a:p>
        </p:txBody>
      </p:sp>
      <p:sp>
        <p:nvSpPr>
          <p:cNvPr id="7" name="Text 4"/>
          <p:cNvSpPr txBox="1"/>
          <p:nvPr/>
        </p:nvSpPr>
        <p:spPr>
          <a:xfrm>
            <a:off x="4069080" y="1188720"/>
            <a:ext cx="1463040" cy="548640"/>
          </a:xfrm>
          <a:prstGeom prst="rect">
            <a:avLst/>
          </a:prstGeom>
          <a:noFill/>
          <a:ln/>
        </p:spPr>
        <p:txBody>
          <a:bodyPr wrap="square" lIns="0" tIns="0" rIns="0" bIns="0" rtlCol="0" anchor="ctr"/>
          <a:lstStyle/>
          <a:p>
            <a:pPr algn="r" indent="0" marL="0">
              <a:buNone/>
            </a:pPr>
            <a:r>
              <a:rPr lang="en-US" sz="1300" b="1" dirty="0">
                <a:solidFill>
                  <a:schemeClr val="accent3"/>
                </a:solidFill>
              </a:rPr>
              <a:t>Browser refuses</a:t>
            </a:r>
            <a:endParaRPr lang="en-US" sz="1300" dirty="0"/>
          </a:p>
        </p:txBody>
      </p:sp>
      <p:sp>
        <p:nvSpPr>
          <p:cNvPr id="8" name="attack 2"/>
          <p:cNvSpPr/>
          <p:nvPr/>
        </p:nvSpPr>
        <p:spPr>
          <a:xfrm>
            <a:off x="548640" y="1874520"/>
            <a:ext cx="5120640" cy="548640"/>
          </a:xfrm>
          <a:prstGeom prst="roundRect">
            <a:avLst>
              <a:gd name="adj" fmla="val 13333"/>
            </a:avLst>
          </a:prstGeom>
          <a:solidFill>
            <a:schemeClr val="bg2"/>
          </a:solidFill>
          <a:ln/>
        </p:spPr>
      </p:sp>
      <p:sp>
        <p:nvSpPr>
          <p:cNvPr id="9" name="Shape 6"/>
          <p:cNvSpPr/>
          <p:nvPr/>
        </p:nvSpPr>
        <p:spPr>
          <a:xfrm>
            <a:off x="658368" y="1965960"/>
            <a:ext cx="365760" cy="365760"/>
          </a:xfrm>
          <a:prstGeom prst="ellipse">
            <a:avLst/>
          </a:prstGeom>
          <a:solidFill>
            <a:schemeClr val="accent3"/>
          </a:solidFill>
          <a:ln/>
        </p:spPr>
      </p:sp>
      <p:pic>
        <p:nvPicPr>
          <p:cNvPr id="10" name="Image 1" descr="preencoded.png">    </p:cNvPr>
          <p:cNvPicPr>
            <a:picLocks noChangeAspect="1"/>
          </p:cNvPicPr>
          <p:nvPr/>
        </p:nvPicPr>
        <p:blipFill>
          <a:blip r:embed="rId2"/>
          <a:stretch>
            <a:fillRect/>
          </a:stretch>
        </p:blipFill>
        <p:spPr>
          <a:xfrm>
            <a:off x="740664" y="2048256"/>
            <a:ext cx="201168" cy="201168"/>
          </a:xfrm>
          <a:prstGeom prst="rect">
            <a:avLst/>
          </a:prstGeom>
        </p:spPr>
      </p:pic>
      <p:sp>
        <p:nvSpPr>
          <p:cNvPr id="11" name="Text 7"/>
          <p:cNvSpPr txBox="1"/>
          <p:nvPr/>
        </p:nvSpPr>
        <p:spPr>
          <a:xfrm>
            <a:off x="1188720" y="1874520"/>
            <a:ext cx="2926080" cy="548640"/>
          </a:xfrm>
          <a:prstGeom prst="rect">
            <a:avLst/>
          </a:prstGeom>
          <a:noFill/>
          <a:ln/>
        </p:spPr>
        <p:txBody>
          <a:bodyPr wrap="square" lIns="0" tIns="0" rIns="0" bIns="0" rtlCol="0" anchor="ctr"/>
          <a:lstStyle/>
          <a:p>
            <a:pPr indent="0" marL="0">
              <a:buNone/>
            </a:pPr>
            <a:r>
              <a:rPr lang="en-US" sz="1500" b="1" dirty="0">
                <a:solidFill>
                  <a:schemeClr val="tx1"/>
                </a:solidFill>
              </a:rPr>
              <a:t>Use the fake site's own passkey</a:t>
            </a:r>
            <a:endParaRPr lang="en-US" sz="1500" dirty="0"/>
          </a:p>
        </p:txBody>
      </p:sp>
      <p:sp>
        <p:nvSpPr>
          <p:cNvPr id="12" name="Text 8"/>
          <p:cNvSpPr txBox="1"/>
          <p:nvPr/>
        </p:nvSpPr>
        <p:spPr>
          <a:xfrm>
            <a:off x="4069080" y="1874520"/>
            <a:ext cx="1463040" cy="548640"/>
          </a:xfrm>
          <a:prstGeom prst="rect">
            <a:avLst/>
          </a:prstGeom>
          <a:noFill/>
          <a:ln/>
        </p:spPr>
        <p:txBody>
          <a:bodyPr wrap="square" lIns="0" tIns="0" rIns="0" bIns="0" rtlCol="0" anchor="ctr"/>
          <a:lstStyle/>
          <a:p>
            <a:pPr algn="r" indent="0" marL="0">
              <a:buNone/>
            </a:pPr>
            <a:r>
              <a:rPr lang="en-US" sz="1300" b="1" dirty="0">
                <a:solidFill>
                  <a:schemeClr val="accent3"/>
                </a:solidFill>
              </a:rPr>
              <a:t>Nothing to use</a:t>
            </a:r>
            <a:endParaRPr lang="en-US" sz="1300" dirty="0"/>
          </a:p>
        </p:txBody>
      </p:sp>
      <p:sp>
        <p:nvSpPr>
          <p:cNvPr id="13" name="attack 3"/>
          <p:cNvSpPr/>
          <p:nvPr/>
        </p:nvSpPr>
        <p:spPr>
          <a:xfrm>
            <a:off x="548640" y="2560320"/>
            <a:ext cx="5120640" cy="548640"/>
          </a:xfrm>
          <a:prstGeom prst="roundRect">
            <a:avLst>
              <a:gd name="adj" fmla="val 13333"/>
            </a:avLst>
          </a:prstGeom>
          <a:solidFill>
            <a:schemeClr val="bg2"/>
          </a:solidFill>
          <a:ln/>
        </p:spPr>
      </p:sp>
      <p:sp>
        <p:nvSpPr>
          <p:cNvPr id="14" name="Shape 10"/>
          <p:cNvSpPr/>
          <p:nvPr/>
        </p:nvSpPr>
        <p:spPr>
          <a:xfrm>
            <a:off x="658368" y="2651760"/>
            <a:ext cx="365760" cy="365760"/>
          </a:xfrm>
          <a:prstGeom prst="ellipse">
            <a:avLst/>
          </a:prstGeom>
          <a:solidFill>
            <a:schemeClr val="accent3"/>
          </a:solidFill>
          <a:ln/>
        </p:spPr>
      </p:sp>
      <p:pic>
        <p:nvPicPr>
          <p:cNvPr id="15" name="Image 2" descr="preencoded.png">    </p:cNvPr>
          <p:cNvPicPr>
            <a:picLocks noChangeAspect="1"/>
          </p:cNvPicPr>
          <p:nvPr/>
        </p:nvPicPr>
        <p:blipFill>
          <a:blip r:embed="rId3"/>
          <a:stretch>
            <a:fillRect/>
          </a:stretch>
        </p:blipFill>
        <p:spPr>
          <a:xfrm>
            <a:off x="740664" y="2734056"/>
            <a:ext cx="201168" cy="201168"/>
          </a:xfrm>
          <a:prstGeom prst="rect">
            <a:avLst/>
          </a:prstGeom>
        </p:spPr>
      </p:pic>
      <p:sp>
        <p:nvSpPr>
          <p:cNvPr id="16" name="Text 11"/>
          <p:cNvSpPr txBox="1"/>
          <p:nvPr/>
        </p:nvSpPr>
        <p:spPr>
          <a:xfrm>
            <a:off x="1188720" y="2560320"/>
            <a:ext cx="2926080" cy="548640"/>
          </a:xfrm>
          <a:prstGeom prst="rect">
            <a:avLst/>
          </a:prstGeom>
          <a:noFill/>
          <a:ln/>
        </p:spPr>
        <p:txBody>
          <a:bodyPr wrap="square" lIns="0" tIns="0" rIns="0" bIns="0" rtlCol="0" anchor="ctr"/>
          <a:lstStyle/>
          <a:p>
            <a:pPr indent="0" marL="0">
              <a:buNone/>
            </a:pPr>
            <a:r>
              <a:rPr lang="en-US" sz="1500" b="1" dirty="0">
                <a:solidFill>
                  <a:schemeClr val="tx1"/>
                </a:solidFill>
              </a:rPr>
              <a:t>Steal the key, fake the web address</a:t>
            </a:r>
            <a:endParaRPr lang="en-US" sz="1500" dirty="0"/>
          </a:p>
        </p:txBody>
      </p:sp>
      <p:sp>
        <p:nvSpPr>
          <p:cNvPr id="17" name="Text 12"/>
          <p:cNvSpPr txBox="1"/>
          <p:nvPr/>
        </p:nvSpPr>
        <p:spPr>
          <a:xfrm>
            <a:off x="4069080" y="2560320"/>
            <a:ext cx="1463040" cy="548640"/>
          </a:xfrm>
          <a:prstGeom prst="rect">
            <a:avLst/>
          </a:prstGeom>
          <a:noFill/>
          <a:ln/>
        </p:spPr>
        <p:txBody>
          <a:bodyPr wrap="square" lIns="0" tIns="0" rIns="0" bIns="0" rtlCol="0" anchor="ctr"/>
          <a:lstStyle/>
          <a:p>
            <a:pPr algn="r" indent="0" marL="0">
              <a:buNone/>
            </a:pPr>
            <a:r>
              <a:rPr lang="en-US" sz="1300" b="1" dirty="0">
                <a:solidFill>
                  <a:schemeClr val="accent3"/>
                </a:solidFill>
              </a:rPr>
              <a:t>Server rejects it</a:t>
            </a:r>
            <a:endParaRPr lang="en-US" sz="1300" dirty="0"/>
          </a:p>
        </p:txBody>
      </p:sp>
      <p:sp>
        <p:nvSpPr>
          <p:cNvPr id="18" name="attack 4"/>
          <p:cNvSpPr/>
          <p:nvPr/>
        </p:nvSpPr>
        <p:spPr>
          <a:xfrm>
            <a:off x="548640" y="3246120"/>
            <a:ext cx="5120640" cy="548640"/>
          </a:xfrm>
          <a:prstGeom prst="roundRect">
            <a:avLst>
              <a:gd name="adj" fmla="val 13333"/>
            </a:avLst>
          </a:prstGeom>
          <a:solidFill>
            <a:schemeClr val="bg2"/>
          </a:solidFill>
          <a:ln/>
        </p:spPr>
      </p:sp>
      <p:sp>
        <p:nvSpPr>
          <p:cNvPr id="19" name="Shape 14"/>
          <p:cNvSpPr/>
          <p:nvPr/>
        </p:nvSpPr>
        <p:spPr>
          <a:xfrm>
            <a:off x="658368" y="3337560"/>
            <a:ext cx="365760" cy="365760"/>
          </a:xfrm>
          <a:prstGeom prst="ellipse">
            <a:avLst/>
          </a:prstGeom>
          <a:solidFill>
            <a:schemeClr val="accent3"/>
          </a:solidFill>
          <a:ln/>
        </p:spPr>
      </p:sp>
      <p:pic>
        <p:nvPicPr>
          <p:cNvPr id="20" name="Image 3" descr="preencoded.png">    </p:cNvPr>
          <p:cNvPicPr>
            <a:picLocks noChangeAspect="1"/>
          </p:cNvPicPr>
          <p:nvPr/>
        </p:nvPicPr>
        <p:blipFill>
          <a:blip r:embed="rId4"/>
          <a:stretch>
            <a:fillRect/>
          </a:stretch>
        </p:blipFill>
        <p:spPr>
          <a:xfrm>
            <a:off x="740664" y="3419856"/>
            <a:ext cx="201168" cy="201168"/>
          </a:xfrm>
          <a:prstGeom prst="rect">
            <a:avLst/>
          </a:prstGeom>
        </p:spPr>
      </p:pic>
      <p:sp>
        <p:nvSpPr>
          <p:cNvPr id="21" name="Text 15"/>
          <p:cNvSpPr txBox="1"/>
          <p:nvPr/>
        </p:nvSpPr>
        <p:spPr>
          <a:xfrm>
            <a:off x="1188720" y="3246120"/>
            <a:ext cx="2926080" cy="548640"/>
          </a:xfrm>
          <a:prstGeom prst="rect">
            <a:avLst/>
          </a:prstGeom>
          <a:noFill/>
          <a:ln/>
        </p:spPr>
        <p:txBody>
          <a:bodyPr wrap="square" lIns="0" tIns="0" rIns="0" bIns="0" rtlCol="0" anchor="ctr"/>
          <a:lstStyle/>
          <a:p>
            <a:pPr indent="0" marL="0">
              <a:buNone/>
            </a:pPr>
            <a:r>
              <a:rPr lang="en-US" sz="1500" b="1" dirty="0">
                <a:solidFill>
                  <a:schemeClr val="tx1"/>
                </a:solidFill>
              </a:rPr>
              <a:t>Relay the face check</a:t>
            </a:r>
            <a:endParaRPr lang="en-US" sz="1500" dirty="0"/>
          </a:p>
        </p:txBody>
      </p:sp>
      <p:sp>
        <p:nvSpPr>
          <p:cNvPr id="22" name="Text 16"/>
          <p:cNvSpPr txBox="1"/>
          <p:nvPr/>
        </p:nvSpPr>
        <p:spPr>
          <a:xfrm>
            <a:off x="4069080" y="3246120"/>
            <a:ext cx="1463040" cy="548640"/>
          </a:xfrm>
          <a:prstGeom prst="rect">
            <a:avLst/>
          </a:prstGeom>
          <a:noFill/>
          <a:ln/>
        </p:spPr>
        <p:txBody>
          <a:bodyPr wrap="square" lIns="0" tIns="0" rIns="0" bIns="0" rtlCol="0" anchor="ctr"/>
          <a:lstStyle/>
          <a:p>
            <a:pPr algn="r" indent="0" marL="0">
              <a:buNone/>
            </a:pPr>
            <a:r>
              <a:rPr lang="en-US" sz="1300" b="1" dirty="0">
                <a:solidFill>
                  <a:schemeClr val="accent3"/>
                </a:solidFill>
              </a:rPr>
              <a:t>Needs a real login</a:t>
            </a:r>
            <a:endParaRPr lang="en-US" sz="1300" dirty="0"/>
          </a:p>
        </p:txBody>
      </p:sp>
      <p:sp>
        <p:nvSpPr>
          <p:cNvPr id="23" name="contrast card"/>
          <p:cNvSpPr/>
          <p:nvPr/>
        </p:nvSpPr>
        <p:spPr>
          <a:xfrm>
            <a:off x="5943600" y="1188720"/>
            <a:ext cx="2651760" cy="2606040"/>
          </a:xfrm>
          <a:prstGeom prst="roundRect">
            <a:avLst>
              <a:gd name="adj" fmla="val 2807"/>
            </a:avLst>
          </a:prstGeom>
          <a:solidFill>
            <a:schemeClr val="accent6"/>
          </a:solidFill>
          <a:ln/>
        </p:spPr>
      </p:sp>
      <p:sp>
        <p:nvSpPr>
          <p:cNvPr id="24" name="Shape 18"/>
          <p:cNvSpPr/>
          <p:nvPr/>
        </p:nvSpPr>
        <p:spPr>
          <a:xfrm>
            <a:off x="6126480" y="1371600"/>
            <a:ext cx="548640" cy="548640"/>
          </a:xfrm>
          <a:prstGeom prst="ellipse">
            <a:avLst/>
          </a:prstGeom>
          <a:solidFill>
            <a:schemeClr val="bg1"/>
          </a:solidFill>
          <a:ln/>
        </p:spPr>
      </p:sp>
      <p:pic>
        <p:nvPicPr>
          <p:cNvPr id="25" name="Image 4" descr="preencoded.png">    </p:cNvPr>
          <p:cNvPicPr>
            <a:picLocks noChangeAspect="1"/>
          </p:cNvPicPr>
          <p:nvPr/>
        </p:nvPicPr>
        <p:blipFill>
          <a:blip r:embed="rId5"/>
          <a:stretch>
            <a:fillRect/>
          </a:stretch>
        </p:blipFill>
        <p:spPr>
          <a:xfrm>
            <a:off x="6263640" y="1508760"/>
            <a:ext cx="274320" cy="274320"/>
          </a:xfrm>
          <a:prstGeom prst="rect">
            <a:avLst/>
          </a:prstGeom>
        </p:spPr>
      </p:pic>
      <p:sp>
        <p:nvSpPr>
          <p:cNvPr id="26" name="Text 19"/>
          <p:cNvSpPr txBox="1"/>
          <p:nvPr/>
        </p:nvSpPr>
        <p:spPr>
          <a:xfrm>
            <a:off x="6126480" y="2057400"/>
            <a:ext cx="2286000" cy="548640"/>
          </a:xfrm>
          <a:prstGeom prst="rect">
            <a:avLst/>
          </a:prstGeom>
          <a:noFill/>
          <a:ln/>
        </p:spPr>
        <p:txBody>
          <a:bodyPr wrap="square" lIns="0" tIns="0" rIns="0" bIns="0" rtlCol="0" anchor="t"/>
          <a:lstStyle/>
          <a:p>
            <a:pPr indent="0" marL="0">
              <a:buNone/>
            </a:pPr>
            <a:r>
              <a:rPr lang="en-US" sz="1500" b="1" dirty="0">
                <a:solidFill>
                  <a:schemeClr val="tx1"/>
                </a:solidFill>
              </a:rPr>
              <a:t>Same trick on a password + OTP site</a:t>
            </a:r>
            <a:endParaRPr lang="en-US" sz="1500" dirty="0"/>
          </a:p>
        </p:txBody>
      </p:sp>
      <p:sp>
        <p:nvSpPr>
          <p:cNvPr id="27" name="Text 20"/>
          <p:cNvSpPr txBox="1"/>
          <p:nvPr/>
        </p:nvSpPr>
        <p:spPr>
          <a:xfrm>
            <a:off x="6126480" y="2651760"/>
            <a:ext cx="2286000" cy="914400"/>
          </a:xfrm>
          <a:prstGeom prst="rect">
            <a:avLst/>
          </a:prstGeom>
          <a:noFill/>
          <a:ln/>
        </p:spPr>
        <p:txBody>
          <a:bodyPr wrap="square" lIns="0" tIns="0" rIns="0" bIns="0" rtlCol="0" anchor="t"/>
          <a:lstStyle/>
          <a:p>
            <a:pPr indent="0" marL="0">
              <a:buNone/>
            </a:pPr>
            <a:r>
              <a:rPr lang="en-US" sz="1300" dirty="0">
                <a:solidFill>
                  <a:schemeClr val="tx1"/>
                </a:solidFill>
              </a:rPr>
              <a:t>The fake page captures both, in plain text, and can use them right away.</a:t>
            </a:r>
            <a:endParaRPr lang="en-US" sz="1300" dirty="0"/>
          </a:p>
        </p:txBody>
      </p:sp>
      <p:sp>
        <p:nvSpPr>
          <p:cNvPr id="28" name="Text 21"/>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dirty="0">
                <a:solidFill>
                  <a:schemeClr val="tx2"/>
                </a:solidFill>
              </a:rPr>
              <a:t>A look-alike site on a different address. The blocked attempt shows up in the admin view.</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Lost every device? Still a safe way back</a:t>
            </a:r>
            <a:endParaRPr lang="en-US" sz="3000" dirty="0"/>
          </a:p>
        </p:txBody>
      </p:sp>
      <p:sp>
        <p:nvSpPr>
          <p:cNvPr id="3" name="Shape 1"/>
          <p:cNvSpPr/>
          <p:nvPr/>
        </p:nvSpPr>
        <p:spPr>
          <a:xfrm>
            <a:off x="548640" y="1188720"/>
            <a:ext cx="640080" cy="640080"/>
          </a:xfrm>
          <a:prstGeom prst="ellipse">
            <a:avLst/>
          </a:prstGeom>
          <a:solidFill>
            <a:schemeClr val="accent5"/>
          </a:solidFill>
          <a:ln/>
        </p:spPr>
      </p:sp>
      <p:pic>
        <p:nvPicPr>
          <p:cNvPr id="4" name="Image 0" descr="preencoded.png">    </p:cNvPr>
          <p:cNvPicPr>
            <a:picLocks noChangeAspect="1"/>
          </p:cNvPicPr>
          <p:nvPr/>
        </p:nvPicPr>
        <p:blipFill>
          <a:blip r:embed="rId1"/>
          <a:stretch>
            <a:fillRect/>
          </a:stretch>
        </p:blipFill>
        <p:spPr>
          <a:xfrm>
            <a:off x="708660" y="1348740"/>
            <a:ext cx="320040" cy="320040"/>
          </a:xfrm>
          <a:prstGeom prst="rect">
            <a:avLst/>
          </a:prstGeom>
        </p:spPr>
      </p:pic>
      <p:sp>
        <p:nvSpPr>
          <p:cNvPr id="5" name="Shape 2"/>
          <p:cNvSpPr/>
          <p:nvPr/>
        </p:nvSpPr>
        <p:spPr>
          <a:xfrm>
            <a:off x="868680" y="1874520"/>
            <a:ext cx="0" cy="182880"/>
          </a:xfrm>
          <a:prstGeom prst="line">
            <a:avLst/>
          </a:prstGeom>
          <a:noFill/>
          <a:ln w="25400">
            <a:solidFill>
              <a:srgbClr val="D5EDE9"/>
            </a:solidFill>
            <a:prstDash val="solid"/>
          </a:ln>
        </p:spPr>
      </p:sp>
      <p:sp>
        <p:nvSpPr>
          <p:cNvPr id="6" name="Text 3"/>
          <p:cNvSpPr txBox="1"/>
          <p:nvPr/>
        </p:nvSpPr>
        <p:spPr>
          <a:xfrm>
            <a:off x="1371600" y="1216152"/>
            <a:ext cx="3566160" cy="292608"/>
          </a:xfrm>
          <a:prstGeom prst="rect">
            <a:avLst/>
          </a:prstGeom>
          <a:noFill/>
          <a:ln/>
        </p:spPr>
        <p:txBody>
          <a:bodyPr wrap="square" lIns="0" tIns="0" rIns="0" bIns="0" rtlCol="0" anchor="t"/>
          <a:lstStyle/>
          <a:p>
            <a:pPr indent="0" marL="0">
              <a:buNone/>
            </a:pPr>
            <a:r>
              <a:rPr lang="en-US" sz="1700" b="1" dirty="0">
                <a:solidFill>
                  <a:schemeClr val="tx1"/>
                </a:solidFill>
              </a:rPr>
              <a:t>Recovery code + live face check</a:t>
            </a:r>
            <a:endParaRPr lang="en-US" sz="1700" dirty="0"/>
          </a:p>
        </p:txBody>
      </p:sp>
      <p:sp>
        <p:nvSpPr>
          <p:cNvPr id="7" name="Text 4"/>
          <p:cNvSpPr txBox="1"/>
          <p:nvPr/>
        </p:nvSpPr>
        <p:spPr>
          <a:xfrm>
            <a:off x="1371600" y="1517904"/>
            <a:ext cx="3566160" cy="274320"/>
          </a:xfrm>
          <a:prstGeom prst="rect">
            <a:avLst/>
          </a:prstGeom>
          <a:noFill/>
          <a:ln/>
        </p:spPr>
        <p:txBody>
          <a:bodyPr wrap="square" lIns="0" tIns="0" rIns="0" bIns="0" rtlCol="0" anchor="t"/>
          <a:lstStyle/>
          <a:p>
            <a:pPr indent="0" marL="0">
              <a:buNone/>
            </a:pPr>
            <a:r>
              <a:rPr lang="en-US" sz="1400" dirty="0">
                <a:solidFill>
                  <a:schemeClr val="tx2"/>
                </a:solidFill>
              </a:rPr>
              <a:t>No password, no SMS</a:t>
            </a:r>
            <a:endParaRPr lang="en-US" sz="1400" dirty="0"/>
          </a:p>
        </p:txBody>
      </p:sp>
      <p:sp>
        <p:nvSpPr>
          <p:cNvPr id="8" name="Shape 5"/>
          <p:cNvSpPr/>
          <p:nvPr/>
        </p:nvSpPr>
        <p:spPr>
          <a:xfrm>
            <a:off x="548640" y="2103120"/>
            <a:ext cx="640080" cy="640080"/>
          </a:xfrm>
          <a:prstGeom prst="ellipse">
            <a:avLst/>
          </a:prstGeom>
          <a:solidFill>
            <a:schemeClr val="accent5"/>
          </a:solidFill>
          <a:ln/>
        </p:spPr>
      </p:sp>
      <p:pic>
        <p:nvPicPr>
          <p:cNvPr id="9" name="Image 1" descr="preencoded.png">    </p:cNvPr>
          <p:cNvPicPr>
            <a:picLocks noChangeAspect="1"/>
          </p:cNvPicPr>
          <p:nvPr/>
        </p:nvPicPr>
        <p:blipFill>
          <a:blip r:embed="rId2"/>
          <a:stretch>
            <a:fillRect/>
          </a:stretch>
        </p:blipFill>
        <p:spPr>
          <a:xfrm>
            <a:off x="708660" y="2263140"/>
            <a:ext cx="320040" cy="320040"/>
          </a:xfrm>
          <a:prstGeom prst="rect">
            <a:avLst/>
          </a:prstGeom>
        </p:spPr>
      </p:pic>
      <p:sp>
        <p:nvSpPr>
          <p:cNvPr id="10" name="Shape 6"/>
          <p:cNvSpPr/>
          <p:nvPr/>
        </p:nvSpPr>
        <p:spPr>
          <a:xfrm>
            <a:off x="868680" y="2788920"/>
            <a:ext cx="0" cy="182880"/>
          </a:xfrm>
          <a:prstGeom prst="line">
            <a:avLst/>
          </a:prstGeom>
          <a:noFill/>
          <a:ln w="25400">
            <a:solidFill>
              <a:srgbClr val="D5EDE9"/>
            </a:solidFill>
            <a:prstDash val="solid"/>
          </a:ln>
        </p:spPr>
      </p:sp>
      <p:sp>
        <p:nvSpPr>
          <p:cNvPr id="11" name="Text 7"/>
          <p:cNvSpPr txBox="1"/>
          <p:nvPr/>
        </p:nvSpPr>
        <p:spPr>
          <a:xfrm>
            <a:off x="1371600" y="2130552"/>
            <a:ext cx="3566160" cy="292608"/>
          </a:xfrm>
          <a:prstGeom prst="rect">
            <a:avLst/>
          </a:prstGeom>
          <a:noFill/>
          <a:ln/>
        </p:spPr>
        <p:txBody>
          <a:bodyPr wrap="square" lIns="0" tIns="0" rIns="0" bIns="0" rtlCol="0" anchor="t"/>
          <a:lstStyle/>
          <a:p>
            <a:pPr indent="0" marL="0">
              <a:buNone/>
            </a:pPr>
            <a:r>
              <a:rPr lang="en-US" sz="1700" b="1" dirty="0">
                <a:solidFill>
                  <a:schemeClr val="tx1"/>
                </a:solidFill>
              </a:rPr>
              <a:t>Your other devices get an alert</a:t>
            </a:r>
            <a:endParaRPr lang="en-US" sz="1700" dirty="0"/>
          </a:p>
        </p:txBody>
      </p:sp>
      <p:sp>
        <p:nvSpPr>
          <p:cNvPr id="12" name="Text 8"/>
          <p:cNvSpPr txBox="1"/>
          <p:nvPr/>
        </p:nvSpPr>
        <p:spPr>
          <a:xfrm>
            <a:off x="1371600" y="2432304"/>
            <a:ext cx="3566160" cy="274320"/>
          </a:xfrm>
          <a:prstGeom prst="rect">
            <a:avLst/>
          </a:prstGeom>
          <a:noFill/>
          <a:ln/>
        </p:spPr>
        <p:txBody>
          <a:bodyPr wrap="square" lIns="0" tIns="0" rIns="0" bIns="0" rtlCol="0" anchor="t"/>
          <a:lstStyle/>
          <a:p>
            <a:pPr indent="0" marL="0">
              <a:buNone/>
            </a:pPr>
            <a:r>
              <a:rPr lang="en-US" sz="1400" dirty="0">
                <a:solidFill>
                  <a:schemeClr val="tx2"/>
                </a:solidFill>
              </a:rPr>
              <a:t>One tap cancels it</a:t>
            </a:r>
            <a:endParaRPr lang="en-US" sz="1400" dirty="0"/>
          </a:p>
        </p:txBody>
      </p:sp>
      <p:sp>
        <p:nvSpPr>
          <p:cNvPr id="13" name="Shape 9"/>
          <p:cNvSpPr/>
          <p:nvPr/>
        </p:nvSpPr>
        <p:spPr>
          <a:xfrm>
            <a:off x="548640" y="3017520"/>
            <a:ext cx="640080" cy="64008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708660" y="3177540"/>
            <a:ext cx="320040" cy="320040"/>
          </a:xfrm>
          <a:prstGeom prst="rect">
            <a:avLst/>
          </a:prstGeom>
        </p:spPr>
      </p:pic>
      <p:sp>
        <p:nvSpPr>
          <p:cNvPr id="15" name="Text 10"/>
          <p:cNvSpPr txBox="1"/>
          <p:nvPr/>
        </p:nvSpPr>
        <p:spPr>
          <a:xfrm>
            <a:off x="1371600" y="3044952"/>
            <a:ext cx="3566160" cy="292608"/>
          </a:xfrm>
          <a:prstGeom prst="rect">
            <a:avLst/>
          </a:prstGeom>
          <a:noFill/>
          <a:ln/>
        </p:spPr>
        <p:txBody>
          <a:bodyPr wrap="square" lIns="0" tIns="0" rIns="0" bIns="0" rtlCol="0" anchor="t"/>
          <a:lstStyle/>
          <a:p>
            <a:pPr indent="0" marL="0">
              <a:buNone/>
            </a:pPr>
            <a:r>
              <a:rPr lang="en-US" sz="1700" b="1" dirty="0">
                <a:solidFill>
                  <a:schemeClr val="tx1"/>
                </a:solidFill>
              </a:rPr>
              <a:t>After the wait, a new passkey</a:t>
            </a:r>
            <a:endParaRPr lang="en-US" sz="1700" dirty="0"/>
          </a:p>
        </p:txBody>
      </p:sp>
      <p:sp>
        <p:nvSpPr>
          <p:cNvPr id="16" name="Text 11"/>
          <p:cNvSpPr txBox="1"/>
          <p:nvPr/>
        </p:nvSpPr>
        <p:spPr>
          <a:xfrm>
            <a:off x="1371600" y="3346704"/>
            <a:ext cx="3566160" cy="274320"/>
          </a:xfrm>
          <a:prstGeom prst="rect">
            <a:avLst/>
          </a:prstGeom>
          <a:noFill/>
          <a:ln/>
        </p:spPr>
        <p:txBody>
          <a:bodyPr wrap="square" lIns="0" tIns="0" rIns="0" bIns="0" rtlCol="0" anchor="t"/>
          <a:lstStyle/>
          <a:p>
            <a:pPr indent="0" marL="0">
              <a:buNone/>
            </a:pPr>
            <a:r>
              <a:rPr lang="en-US" sz="1400" dirty="0">
                <a:solidFill>
                  <a:schemeClr val="tx2"/>
                </a:solidFill>
              </a:rPr>
              <a:t>Old keys signed out, new code issued</a:t>
            </a:r>
            <a:endParaRPr lang="en-US" sz="1400" dirty="0"/>
          </a:p>
        </p:txBody>
      </p:sp>
      <p:sp>
        <p:nvSpPr>
          <p:cNvPr id="17" name="recovery banner"/>
          <p:cNvSpPr/>
          <p:nvPr/>
        </p:nvSpPr>
        <p:spPr>
          <a:xfrm>
            <a:off x="5212080" y="1188720"/>
            <a:ext cx="3383280" cy="1417320"/>
          </a:xfrm>
          <a:prstGeom prst="roundRect">
            <a:avLst>
              <a:gd name="adj" fmla="val 5161"/>
            </a:avLst>
          </a:prstGeom>
          <a:solidFill>
            <a:srgbClr val="FEF3C7"/>
          </a:solidFill>
          <a:ln/>
        </p:spPr>
      </p:sp>
      <p:pic>
        <p:nvPicPr>
          <p:cNvPr id="18" name="Image 3" descr="preencoded.png">    </p:cNvPr>
          <p:cNvPicPr>
            <a:picLocks noChangeAspect="1"/>
          </p:cNvPicPr>
          <p:nvPr/>
        </p:nvPicPr>
        <p:blipFill>
          <a:blip r:embed="rId4"/>
          <a:stretch>
            <a:fillRect/>
          </a:stretch>
        </p:blipFill>
        <p:spPr>
          <a:xfrm>
            <a:off x="5394960" y="1353312"/>
            <a:ext cx="347472" cy="347472"/>
          </a:xfrm>
          <a:prstGeom prst="rect">
            <a:avLst/>
          </a:prstGeom>
        </p:spPr>
      </p:pic>
      <p:sp>
        <p:nvSpPr>
          <p:cNvPr id="19" name="Text 13"/>
          <p:cNvSpPr txBox="1"/>
          <p:nvPr/>
        </p:nvSpPr>
        <p:spPr>
          <a:xfrm>
            <a:off x="5852160" y="1325880"/>
            <a:ext cx="2651760" cy="411480"/>
          </a:xfrm>
          <a:prstGeom prst="rect">
            <a:avLst/>
          </a:prstGeom>
          <a:noFill/>
          <a:ln/>
        </p:spPr>
        <p:txBody>
          <a:bodyPr wrap="square" lIns="0" tIns="0" rIns="0" bIns="0" rtlCol="0" anchor="t"/>
          <a:lstStyle/>
          <a:p>
            <a:pPr indent="0" marL="0">
              <a:buNone/>
            </a:pPr>
            <a:r>
              <a:rPr lang="en-US" sz="1400" b="1" dirty="0">
                <a:solidFill>
                  <a:schemeClr val="tx1"/>
                </a:solidFill>
              </a:rPr>
              <a:t>Account recovery in progress</a:t>
            </a:r>
            <a:endParaRPr lang="en-US" sz="1400" dirty="0"/>
          </a:p>
        </p:txBody>
      </p:sp>
      <p:sp>
        <p:nvSpPr>
          <p:cNvPr id="20" name="Text 14"/>
          <p:cNvSpPr txBox="1"/>
          <p:nvPr/>
        </p:nvSpPr>
        <p:spPr>
          <a:xfrm>
            <a:off x="5852160" y="1719072"/>
            <a:ext cx="2606040" cy="411480"/>
          </a:xfrm>
          <a:prstGeom prst="rect">
            <a:avLst/>
          </a:prstGeom>
          <a:noFill/>
          <a:ln/>
        </p:spPr>
        <p:txBody>
          <a:bodyPr wrap="square" lIns="0" tIns="0" rIns="0" bIns="0" rtlCol="0" anchor="t"/>
          <a:lstStyle/>
          <a:p>
            <a:pPr indent="0" marL="0">
              <a:buNone/>
            </a:pPr>
            <a:r>
              <a:rPr lang="en-US" sz="1100" dirty="0">
                <a:solidFill>
                  <a:schemeClr val="tx1"/>
                </a:solidFill>
              </a:rPr>
              <a:t>Not you? Cancel it now. Your passkeys keep working.</a:t>
            </a:r>
            <a:endParaRPr lang="en-US" sz="1100" dirty="0"/>
          </a:p>
        </p:txBody>
      </p:sp>
      <p:sp>
        <p:nvSpPr>
          <p:cNvPr id="21" name="Shape 15"/>
          <p:cNvSpPr/>
          <p:nvPr/>
        </p:nvSpPr>
        <p:spPr>
          <a:xfrm>
            <a:off x="5852160" y="2176272"/>
            <a:ext cx="1417320" cy="292608"/>
          </a:xfrm>
          <a:prstGeom prst="roundRect">
            <a:avLst>
              <a:gd name="adj" fmla="val 18750"/>
            </a:avLst>
          </a:prstGeom>
          <a:solidFill>
            <a:schemeClr val="bg1"/>
          </a:solidFill>
          <a:ln w="12700">
            <a:solidFill>
              <a:srgbClr val="E11D48"/>
            </a:solidFill>
            <a:prstDash val="solid"/>
          </a:ln>
        </p:spPr>
      </p:sp>
      <p:sp>
        <p:nvSpPr>
          <p:cNvPr id="22" name="Text 16"/>
          <p:cNvSpPr txBox="1"/>
          <p:nvPr/>
        </p:nvSpPr>
        <p:spPr>
          <a:xfrm>
            <a:off x="5852160" y="2176272"/>
            <a:ext cx="1417320" cy="292608"/>
          </a:xfrm>
          <a:prstGeom prst="rect">
            <a:avLst/>
          </a:prstGeom>
          <a:noFill/>
          <a:ln/>
        </p:spPr>
        <p:txBody>
          <a:bodyPr wrap="square" lIns="0" tIns="0" rIns="0" bIns="0" rtlCol="0" anchor="ctr"/>
          <a:lstStyle/>
          <a:p>
            <a:pPr algn="ctr" indent="0" marL="0">
              <a:buNone/>
            </a:pPr>
            <a:r>
              <a:rPr lang="en-US" sz="1100" b="1" dirty="0">
                <a:solidFill>
                  <a:schemeClr val="accent3"/>
                </a:solidFill>
              </a:rPr>
              <a:t>Cancel recovery</a:t>
            </a:r>
            <a:endParaRPr lang="en-US" sz="1100" dirty="0"/>
          </a:p>
        </p:txBody>
      </p:sp>
      <p:sp>
        <p:nvSpPr>
          <p:cNvPr id="23" name="wait stat 1"/>
          <p:cNvSpPr/>
          <p:nvPr/>
        </p:nvSpPr>
        <p:spPr>
          <a:xfrm>
            <a:off x="5212080" y="2788920"/>
            <a:ext cx="1645920" cy="1143000"/>
          </a:xfrm>
          <a:prstGeom prst="roundRect">
            <a:avLst>
              <a:gd name="adj" fmla="val 6400"/>
            </a:avLst>
          </a:prstGeom>
          <a:solidFill>
            <a:schemeClr val="bg2"/>
          </a:solidFill>
          <a:ln/>
        </p:spPr>
      </p:sp>
      <p:sp>
        <p:nvSpPr>
          <p:cNvPr id="24" name="Text 18"/>
          <p:cNvSpPr txBox="1"/>
          <p:nvPr/>
        </p:nvSpPr>
        <p:spPr>
          <a:xfrm>
            <a:off x="5349240" y="2880360"/>
            <a:ext cx="1371600" cy="548640"/>
          </a:xfrm>
          <a:prstGeom prst="rect">
            <a:avLst/>
          </a:prstGeom>
          <a:noFill/>
          <a:ln/>
        </p:spPr>
        <p:txBody>
          <a:bodyPr wrap="square" lIns="0" tIns="0" rIns="0" bIns="0" rtlCol="0" anchor="t"/>
          <a:lstStyle/>
          <a:p>
            <a:pPr indent="0" marL="0">
              <a:buNone/>
            </a:pPr>
            <a:r>
              <a:rPr lang="en-US" sz="3200" b="1" dirty="0">
                <a:solidFill>
                  <a:schemeClr val="accent1"/>
                </a:solidFill>
              </a:rPr>
              <a:t>24 h</a:t>
            </a:r>
            <a:endParaRPr lang="en-US" sz="3200" dirty="0"/>
          </a:p>
        </p:txBody>
      </p:sp>
      <p:sp>
        <p:nvSpPr>
          <p:cNvPr id="25" name="Text 19"/>
          <p:cNvSpPr txBox="1"/>
          <p:nvPr/>
        </p:nvSpPr>
        <p:spPr>
          <a:xfrm>
            <a:off x="5349240" y="3456432"/>
            <a:ext cx="1417320" cy="365760"/>
          </a:xfrm>
          <a:prstGeom prst="rect">
            <a:avLst/>
          </a:prstGeom>
          <a:noFill/>
          <a:ln/>
        </p:spPr>
        <p:txBody>
          <a:bodyPr wrap="square" lIns="0" tIns="0" rIns="0" bIns="0" rtlCol="0" anchor="t"/>
          <a:lstStyle/>
          <a:p>
            <a:pPr indent="0" marL="0">
              <a:buNone/>
            </a:pPr>
            <a:r>
              <a:rPr lang="en-US" sz="1200" dirty="0">
                <a:solidFill>
                  <a:schemeClr val="tx2"/>
                </a:solidFill>
              </a:rPr>
              <a:t>wait with face check</a:t>
            </a:r>
            <a:endParaRPr lang="en-US" sz="1200" dirty="0"/>
          </a:p>
        </p:txBody>
      </p:sp>
      <p:sp>
        <p:nvSpPr>
          <p:cNvPr id="26" name="wait stat 2"/>
          <p:cNvSpPr/>
          <p:nvPr/>
        </p:nvSpPr>
        <p:spPr>
          <a:xfrm>
            <a:off x="6949440" y="2788920"/>
            <a:ext cx="1645920" cy="1143000"/>
          </a:xfrm>
          <a:prstGeom prst="roundRect">
            <a:avLst>
              <a:gd name="adj" fmla="val 6400"/>
            </a:avLst>
          </a:prstGeom>
          <a:solidFill>
            <a:schemeClr val="bg2"/>
          </a:solidFill>
          <a:ln/>
        </p:spPr>
      </p:sp>
      <p:sp>
        <p:nvSpPr>
          <p:cNvPr id="27" name="Text 21"/>
          <p:cNvSpPr txBox="1"/>
          <p:nvPr/>
        </p:nvSpPr>
        <p:spPr>
          <a:xfrm>
            <a:off x="7086600" y="2880360"/>
            <a:ext cx="1371600" cy="548640"/>
          </a:xfrm>
          <a:prstGeom prst="rect">
            <a:avLst/>
          </a:prstGeom>
          <a:noFill/>
          <a:ln/>
        </p:spPr>
        <p:txBody>
          <a:bodyPr wrap="square" lIns="0" tIns="0" rIns="0" bIns="0" rtlCol="0" anchor="t"/>
          <a:lstStyle/>
          <a:p>
            <a:pPr indent="0" marL="0">
              <a:buNone/>
            </a:pPr>
            <a:r>
              <a:rPr lang="en-US" sz="3200" b="1" dirty="0">
                <a:solidFill>
                  <a:schemeClr val="tx1"/>
                </a:solidFill>
              </a:rPr>
              <a:t>72 h</a:t>
            </a:r>
            <a:endParaRPr lang="en-US" sz="3200" dirty="0"/>
          </a:p>
        </p:txBody>
      </p:sp>
      <p:sp>
        <p:nvSpPr>
          <p:cNvPr id="28" name="Text 22"/>
          <p:cNvSpPr txBox="1"/>
          <p:nvPr/>
        </p:nvSpPr>
        <p:spPr>
          <a:xfrm>
            <a:off x="7086600" y="3456432"/>
            <a:ext cx="1417320" cy="365760"/>
          </a:xfrm>
          <a:prstGeom prst="rect">
            <a:avLst/>
          </a:prstGeom>
          <a:noFill/>
          <a:ln/>
        </p:spPr>
        <p:txBody>
          <a:bodyPr wrap="square" lIns="0" tIns="0" rIns="0" bIns="0" rtlCol="0" anchor="t"/>
          <a:lstStyle/>
          <a:p>
            <a:pPr indent="0" marL="0">
              <a:buNone/>
            </a:pPr>
            <a:r>
              <a:rPr lang="en-US" sz="1200" dirty="0">
                <a:solidFill>
                  <a:schemeClr val="tx2"/>
                </a:solidFill>
              </a:rPr>
              <a:t>wait with code only</a:t>
            </a:r>
            <a:endParaRPr lang="en-US" sz="1200" dirty="0"/>
          </a:p>
        </p:txBody>
      </p:sp>
      <p:sp>
        <p:nvSpPr>
          <p:cNvPr id="29" name="Text 23"/>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dirty="0">
                <a:solidFill>
                  <a:schemeClr val="tx2"/>
                </a:solidFill>
              </a:rPr>
              <a:t>The wait gives the real owner time to stop a stranger. Shortened to a minute for the demo.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One screen for the admin</a:t>
            </a:r>
            <a:endParaRPr lang="en-US" sz="3000" dirty="0"/>
          </a:p>
        </p:txBody>
      </p:sp>
      <p:sp>
        <p:nvSpPr>
          <p:cNvPr id="3" name="browser frame"/>
          <p:cNvSpPr/>
          <p:nvPr/>
        </p:nvSpPr>
        <p:spPr>
          <a:xfrm>
            <a:off x="548640" y="1188720"/>
            <a:ext cx="8046720" cy="2788920"/>
          </a:xfrm>
          <a:prstGeom prst="roundRect">
            <a:avLst>
              <a:gd name="adj" fmla="val 2623"/>
            </a:avLst>
          </a:prstGeom>
          <a:solidFill>
            <a:schemeClr val="bg1"/>
          </a:solidFill>
          <a:ln w="9525">
            <a:solidFill>
              <a:srgbClr val="CBD5E1"/>
            </a:solidFill>
            <a:prstDash val="solid"/>
          </a:ln>
        </p:spPr>
      </p:sp>
      <p:sp>
        <p:nvSpPr>
          <p:cNvPr id="4" name="Shape 2"/>
          <p:cNvSpPr/>
          <p:nvPr/>
        </p:nvSpPr>
        <p:spPr>
          <a:xfrm>
            <a:off x="731520" y="1344168"/>
            <a:ext cx="109728" cy="109728"/>
          </a:xfrm>
          <a:prstGeom prst="ellipse">
            <a:avLst/>
          </a:prstGeom>
          <a:solidFill>
            <a:srgbClr val="CBD5E1"/>
          </a:solidFill>
          <a:ln/>
        </p:spPr>
      </p:sp>
      <p:sp>
        <p:nvSpPr>
          <p:cNvPr id="5" name="Shape 3"/>
          <p:cNvSpPr/>
          <p:nvPr/>
        </p:nvSpPr>
        <p:spPr>
          <a:xfrm>
            <a:off x="914400" y="1344168"/>
            <a:ext cx="109728" cy="109728"/>
          </a:xfrm>
          <a:prstGeom prst="ellipse">
            <a:avLst/>
          </a:prstGeom>
          <a:solidFill>
            <a:srgbClr val="CBD5E1"/>
          </a:solidFill>
          <a:ln/>
        </p:spPr>
      </p:sp>
      <p:sp>
        <p:nvSpPr>
          <p:cNvPr id="6" name="Shape 4"/>
          <p:cNvSpPr/>
          <p:nvPr/>
        </p:nvSpPr>
        <p:spPr>
          <a:xfrm>
            <a:off x="1097280" y="1344168"/>
            <a:ext cx="109728" cy="109728"/>
          </a:xfrm>
          <a:prstGeom prst="ellipse">
            <a:avLst/>
          </a:prstGeom>
          <a:solidFill>
            <a:srgbClr val="CBD5E1"/>
          </a:solidFill>
          <a:ln/>
        </p:spPr>
      </p:sp>
      <p:sp>
        <p:nvSpPr>
          <p:cNvPr id="7" name="Shape 5"/>
          <p:cNvSpPr/>
          <p:nvPr/>
        </p:nvSpPr>
        <p:spPr>
          <a:xfrm>
            <a:off x="1371600" y="1280160"/>
            <a:ext cx="7040880" cy="246888"/>
          </a:xfrm>
          <a:prstGeom prst="roundRect">
            <a:avLst>
              <a:gd name="adj" fmla="val 48148"/>
            </a:avLst>
          </a:prstGeom>
          <a:solidFill>
            <a:schemeClr val="accent5"/>
          </a:solidFill>
          <a:ln/>
        </p:spPr>
      </p:sp>
      <p:sp>
        <p:nvSpPr>
          <p:cNvPr id="8" name="Text 6"/>
          <p:cNvSpPr txBox="1"/>
          <p:nvPr/>
        </p:nvSpPr>
        <p:spPr>
          <a:xfrm>
            <a:off x="1508760" y="1280160"/>
            <a:ext cx="6858000" cy="246888"/>
          </a:xfrm>
          <a:prstGeom prst="rect">
            <a:avLst/>
          </a:prstGeom>
          <a:noFill/>
          <a:ln/>
        </p:spPr>
        <p:txBody>
          <a:bodyPr wrap="square" lIns="0" tIns="0" rIns="0" bIns="0" rtlCol="0" anchor="ctr"/>
          <a:lstStyle/>
          <a:p>
            <a:pPr indent="0" marL="0">
              <a:buNone/>
            </a:pPr>
            <a:r>
              <a:rPr lang="en-US" sz="1100" b="1" dirty="0">
                <a:solidFill>
                  <a:schemeClr val="accent1"/>
                </a:solidFill>
              </a:rPr>
              <a:t>secure.app/admin</a:t>
            </a:r>
            <a:endParaRPr lang="en-US" sz="1100" dirty="0"/>
          </a:p>
        </p:txBody>
      </p:sp>
      <p:sp>
        <p:nvSpPr>
          <p:cNvPr id="9" name="Shape 7"/>
          <p:cNvSpPr/>
          <p:nvPr/>
        </p:nvSpPr>
        <p:spPr>
          <a:xfrm>
            <a:off x="548640" y="1618488"/>
            <a:ext cx="8046720" cy="0"/>
          </a:xfrm>
          <a:prstGeom prst="line">
            <a:avLst/>
          </a:prstGeom>
          <a:noFill/>
          <a:ln w="9525">
            <a:solidFill>
              <a:srgbClr val="CBD5E1"/>
            </a:solidFill>
            <a:prstDash val="solid"/>
          </a:ln>
        </p:spPr>
      </p:sp>
      <p:sp>
        <p:nvSpPr>
          <p:cNvPr id="10" name="Devices"/>
          <p:cNvSpPr/>
          <p:nvPr/>
        </p:nvSpPr>
        <p:spPr>
          <a:xfrm>
            <a:off x="731520" y="1801368"/>
            <a:ext cx="2103120" cy="2011680"/>
          </a:xfrm>
          <a:prstGeom prst="roundRect">
            <a:avLst>
              <a:gd name="adj" fmla="val 3636"/>
            </a:avLst>
          </a:prstGeom>
          <a:solidFill>
            <a:schemeClr val="bg2"/>
          </a:solidFill>
          <a:ln/>
        </p:spPr>
      </p:sp>
      <p:sp>
        <p:nvSpPr>
          <p:cNvPr id="11" name="Text 9"/>
          <p:cNvSpPr txBox="1"/>
          <p:nvPr/>
        </p:nvSpPr>
        <p:spPr>
          <a:xfrm>
            <a:off x="868680" y="1892808"/>
            <a:ext cx="1828800" cy="274320"/>
          </a:xfrm>
          <a:prstGeom prst="rect">
            <a:avLst/>
          </a:prstGeom>
          <a:noFill/>
          <a:ln/>
        </p:spPr>
        <p:txBody>
          <a:bodyPr wrap="square" lIns="0" tIns="0" rIns="0" bIns="0" rtlCol="0" anchor="t"/>
          <a:lstStyle/>
          <a:p>
            <a:pPr indent="0" marL="0">
              <a:buNone/>
            </a:pPr>
            <a:r>
              <a:rPr lang="en-US" sz="1300" b="1" dirty="0">
                <a:solidFill>
                  <a:schemeClr val="tx1"/>
                </a:solidFill>
              </a:rPr>
              <a:t>Devices</a:t>
            </a:r>
            <a:endParaRPr lang="en-US" sz="1300" dirty="0"/>
          </a:p>
        </p:txBody>
      </p:sp>
      <p:sp>
        <p:nvSpPr>
          <p:cNvPr id="12" name="Shape 10"/>
          <p:cNvSpPr/>
          <p:nvPr/>
        </p:nvSpPr>
        <p:spPr>
          <a:xfrm>
            <a:off x="886968" y="2368296"/>
            <a:ext cx="109728" cy="109728"/>
          </a:xfrm>
          <a:prstGeom prst="ellipse">
            <a:avLst/>
          </a:prstGeom>
          <a:solidFill>
            <a:schemeClr val="accent1"/>
          </a:solidFill>
          <a:ln/>
        </p:spPr>
      </p:sp>
      <p:sp>
        <p:nvSpPr>
          <p:cNvPr id="13" name="Text 11"/>
          <p:cNvSpPr txBox="1"/>
          <p:nvPr/>
        </p:nvSpPr>
        <p:spPr>
          <a:xfrm>
            <a:off x="1078992" y="2276856"/>
            <a:ext cx="1645920" cy="292608"/>
          </a:xfrm>
          <a:prstGeom prst="rect">
            <a:avLst/>
          </a:prstGeom>
          <a:noFill/>
          <a:ln/>
        </p:spPr>
        <p:txBody>
          <a:bodyPr wrap="square" lIns="0" tIns="0" rIns="0" bIns="0" rtlCol="0" anchor="ctr"/>
          <a:lstStyle/>
          <a:p>
            <a:pPr indent="0" marL="0">
              <a:buNone/>
            </a:pPr>
            <a:r>
              <a:rPr lang="en-US" sz="1100" dirty="0">
                <a:solidFill>
                  <a:schemeClr val="tx1"/>
                </a:solidFill>
              </a:rPr>
              <a:t>Pixel phone</a:t>
            </a:r>
            <a:endParaRPr lang="en-US" sz="1100" dirty="0"/>
          </a:p>
        </p:txBody>
      </p:sp>
      <p:sp>
        <p:nvSpPr>
          <p:cNvPr id="14" name="Shape 12"/>
          <p:cNvSpPr/>
          <p:nvPr/>
        </p:nvSpPr>
        <p:spPr>
          <a:xfrm>
            <a:off x="886968" y="2734056"/>
            <a:ext cx="109728" cy="109728"/>
          </a:xfrm>
          <a:prstGeom prst="ellipse">
            <a:avLst/>
          </a:prstGeom>
          <a:solidFill>
            <a:schemeClr val="accent1"/>
          </a:solidFill>
          <a:ln/>
        </p:spPr>
      </p:sp>
      <p:sp>
        <p:nvSpPr>
          <p:cNvPr id="15" name="Text 13"/>
          <p:cNvSpPr txBox="1"/>
          <p:nvPr/>
        </p:nvSpPr>
        <p:spPr>
          <a:xfrm>
            <a:off x="1078992" y="2642616"/>
            <a:ext cx="1645920" cy="292608"/>
          </a:xfrm>
          <a:prstGeom prst="rect">
            <a:avLst/>
          </a:prstGeom>
          <a:noFill/>
          <a:ln/>
        </p:spPr>
        <p:txBody>
          <a:bodyPr wrap="square" lIns="0" tIns="0" rIns="0" bIns="0" rtlCol="0" anchor="ctr"/>
          <a:lstStyle/>
          <a:p>
            <a:pPr indent="0" marL="0">
              <a:buNone/>
            </a:pPr>
            <a:r>
              <a:rPr lang="en-US" sz="1100" dirty="0">
                <a:solidFill>
                  <a:schemeClr val="tx1"/>
                </a:solidFill>
              </a:rPr>
              <a:t>Work laptop</a:t>
            </a:r>
            <a:endParaRPr lang="en-US" sz="1100" dirty="0"/>
          </a:p>
        </p:txBody>
      </p:sp>
      <p:sp>
        <p:nvSpPr>
          <p:cNvPr id="16" name="Shape 14"/>
          <p:cNvSpPr/>
          <p:nvPr/>
        </p:nvSpPr>
        <p:spPr>
          <a:xfrm>
            <a:off x="886968" y="3099816"/>
            <a:ext cx="109728" cy="109728"/>
          </a:xfrm>
          <a:prstGeom prst="ellipse">
            <a:avLst/>
          </a:prstGeom>
          <a:solidFill>
            <a:schemeClr val="accent3"/>
          </a:solidFill>
          <a:ln/>
        </p:spPr>
      </p:sp>
      <p:sp>
        <p:nvSpPr>
          <p:cNvPr id="17" name="Text 15"/>
          <p:cNvSpPr txBox="1"/>
          <p:nvPr/>
        </p:nvSpPr>
        <p:spPr>
          <a:xfrm>
            <a:off x="1078992" y="3008376"/>
            <a:ext cx="1645920" cy="292608"/>
          </a:xfrm>
          <a:prstGeom prst="rect">
            <a:avLst/>
          </a:prstGeom>
          <a:noFill/>
          <a:ln/>
        </p:spPr>
        <p:txBody>
          <a:bodyPr wrap="square" lIns="0" tIns="0" rIns="0" bIns="0" rtlCol="0" anchor="ctr"/>
          <a:lstStyle/>
          <a:p>
            <a:pPr indent="0" marL="0">
              <a:buNone/>
            </a:pPr>
            <a:r>
              <a:rPr lang="en-US" sz="1100" dirty="0">
                <a:solidFill>
                  <a:schemeClr val="tx1"/>
                </a:solidFill>
              </a:rPr>
              <a:t>Old phone</a:t>
            </a:r>
            <a:endParaRPr lang="en-US" sz="1100" dirty="0"/>
          </a:p>
        </p:txBody>
      </p:sp>
      <p:sp>
        <p:nvSpPr>
          <p:cNvPr id="18" name="Sign-in history"/>
          <p:cNvSpPr/>
          <p:nvPr/>
        </p:nvSpPr>
        <p:spPr>
          <a:xfrm>
            <a:off x="3017520" y="1801368"/>
            <a:ext cx="3291840" cy="2011680"/>
          </a:xfrm>
          <a:prstGeom prst="roundRect">
            <a:avLst>
              <a:gd name="adj" fmla="val 3636"/>
            </a:avLst>
          </a:prstGeom>
          <a:solidFill>
            <a:schemeClr val="bg2"/>
          </a:solidFill>
          <a:ln/>
        </p:spPr>
      </p:sp>
      <p:sp>
        <p:nvSpPr>
          <p:cNvPr id="19" name="Text 17"/>
          <p:cNvSpPr txBox="1"/>
          <p:nvPr/>
        </p:nvSpPr>
        <p:spPr>
          <a:xfrm>
            <a:off x="3154680" y="1892808"/>
            <a:ext cx="3017520" cy="274320"/>
          </a:xfrm>
          <a:prstGeom prst="rect">
            <a:avLst/>
          </a:prstGeom>
          <a:noFill/>
          <a:ln/>
        </p:spPr>
        <p:txBody>
          <a:bodyPr wrap="square" lIns="0" tIns="0" rIns="0" bIns="0" rtlCol="0" anchor="t"/>
          <a:lstStyle/>
          <a:p>
            <a:pPr indent="0" marL="0">
              <a:buNone/>
            </a:pPr>
            <a:r>
              <a:rPr lang="en-US" sz="1300" b="1" dirty="0">
                <a:solidFill>
                  <a:schemeClr val="tx1"/>
                </a:solidFill>
              </a:rPr>
              <a:t>Sign-in history</a:t>
            </a:r>
            <a:endParaRPr lang="en-US" sz="1300" dirty="0"/>
          </a:p>
        </p:txBody>
      </p:sp>
      <p:sp>
        <p:nvSpPr>
          <p:cNvPr id="20" name="Shape 18"/>
          <p:cNvSpPr/>
          <p:nvPr/>
        </p:nvSpPr>
        <p:spPr>
          <a:xfrm>
            <a:off x="3172968" y="2368296"/>
            <a:ext cx="109728" cy="109728"/>
          </a:xfrm>
          <a:prstGeom prst="ellipse">
            <a:avLst/>
          </a:prstGeom>
          <a:solidFill>
            <a:schemeClr val="accent1"/>
          </a:solidFill>
          <a:ln/>
        </p:spPr>
      </p:sp>
      <p:sp>
        <p:nvSpPr>
          <p:cNvPr id="21" name="Text 19"/>
          <p:cNvSpPr txBox="1"/>
          <p:nvPr/>
        </p:nvSpPr>
        <p:spPr>
          <a:xfrm>
            <a:off x="3364992" y="2276856"/>
            <a:ext cx="2834640" cy="292608"/>
          </a:xfrm>
          <a:prstGeom prst="rect">
            <a:avLst/>
          </a:prstGeom>
          <a:noFill/>
          <a:ln/>
        </p:spPr>
        <p:txBody>
          <a:bodyPr wrap="square" lIns="0" tIns="0" rIns="0" bIns="0" rtlCol="0" anchor="ctr"/>
          <a:lstStyle/>
          <a:p>
            <a:pPr indent="0" marL="0">
              <a:buNone/>
            </a:pPr>
            <a:r>
              <a:rPr lang="en-US" sz="1100" dirty="0">
                <a:solidFill>
                  <a:schemeClr val="tx1"/>
                </a:solidFill>
              </a:rPr>
              <a:t>Signed in with passkey</a:t>
            </a:r>
            <a:endParaRPr lang="en-US" sz="1100" dirty="0"/>
          </a:p>
        </p:txBody>
      </p:sp>
      <p:sp>
        <p:nvSpPr>
          <p:cNvPr id="22" name="Shape 20"/>
          <p:cNvSpPr/>
          <p:nvPr/>
        </p:nvSpPr>
        <p:spPr>
          <a:xfrm>
            <a:off x="3172968" y="2734056"/>
            <a:ext cx="109728" cy="109728"/>
          </a:xfrm>
          <a:prstGeom prst="ellipse">
            <a:avLst/>
          </a:prstGeom>
          <a:solidFill>
            <a:schemeClr val="accent1"/>
          </a:solidFill>
          <a:ln/>
        </p:spPr>
      </p:sp>
      <p:sp>
        <p:nvSpPr>
          <p:cNvPr id="23" name="Text 21"/>
          <p:cNvSpPr txBox="1"/>
          <p:nvPr/>
        </p:nvSpPr>
        <p:spPr>
          <a:xfrm>
            <a:off x="3364992" y="2642616"/>
            <a:ext cx="2834640" cy="292608"/>
          </a:xfrm>
          <a:prstGeom prst="rect">
            <a:avLst/>
          </a:prstGeom>
          <a:noFill/>
          <a:ln/>
        </p:spPr>
        <p:txBody>
          <a:bodyPr wrap="square" lIns="0" tIns="0" rIns="0" bIns="0" rtlCol="0" anchor="ctr"/>
          <a:lstStyle/>
          <a:p>
            <a:pPr indent="0" marL="0">
              <a:buNone/>
            </a:pPr>
            <a:r>
              <a:rPr lang="en-US" sz="1100" dirty="0">
                <a:solidFill>
                  <a:schemeClr val="tx1"/>
                </a:solidFill>
              </a:rPr>
              <a:t>Extra check passed</a:t>
            </a:r>
            <a:endParaRPr lang="en-US" sz="1100" dirty="0"/>
          </a:p>
        </p:txBody>
      </p:sp>
      <p:sp>
        <p:nvSpPr>
          <p:cNvPr id="24" name="Shape 22"/>
          <p:cNvSpPr/>
          <p:nvPr/>
        </p:nvSpPr>
        <p:spPr>
          <a:xfrm>
            <a:off x="3172968" y="3099816"/>
            <a:ext cx="109728" cy="109728"/>
          </a:xfrm>
          <a:prstGeom prst="ellipse">
            <a:avLst/>
          </a:prstGeom>
          <a:solidFill>
            <a:schemeClr val="accent3"/>
          </a:solidFill>
          <a:ln/>
        </p:spPr>
      </p:sp>
      <p:sp>
        <p:nvSpPr>
          <p:cNvPr id="25" name="Text 23"/>
          <p:cNvSpPr txBox="1"/>
          <p:nvPr/>
        </p:nvSpPr>
        <p:spPr>
          <a:xfrm>
            <a:off x="3364992" y="3008376"/>
            <a:ext cx="2834640" cy="292608"/>
          </a:xfrm>
          <a:prstGeom prst="rect">
            <a:avLst/>
          </a:prstGeom>
          <a:noFill/>
          <a:ln/>
        </p:spPr>
        <p:txBody>
          <a:bodyPr wrap="square" lIns="0" tIns="0" rIns="0" bIns="0" rtlCol="0" anchor="ctr"/>
          <a:lstStyle/>
          <a:p>
            <a:pPr indent="0" marL="0">
              <a:buNone/>
            </a:pPr>
            <a:r>
              <a:rPr lang="en-US" sz="1100" b="1" dirty="0">
                <a:solidFill>
                  <a:schemeClr val="accent3"/>
                </a:solidFill>
              </a:rPr>
              <a:t>Blocked: sign-in from a fake site</a:t>
            </a:r>
            <a:endParaRPr lang="en-US" sz="1100" dirty="0"/>
          </a:p>
        </p:txBody>
      </p:sp>
      <p:sp>
        <p:nvSpPr>
          <p:cNvPr id="26" name="Shape 24"/>
          <p:cNvSpPr/>
          <p:nvPr/>
        </p:nvSpPr>
        <p:spPr>
          <a:xfrm>
            <a:off x="3172968" y="3465576"/>
            <a:ext cx="109728" cy="109728"/>
          </a:xfrm>
          <a:prstGeom prst="ellipse">
            <a:avLst/>
          </a:prstGeom>
          <a:solidFill>
            <a:schemeClr val="accent4"/>
          </a:solidFill>
          <a:ln/>
        </p:spPr>
      </p:sp>
      <p:sp>
        <p:nvSpPr>
          <p:cNvPr id="27" name="Text 25"/>
          <p:cNvSpPr txBox="1"/>
          <p:nvPr/>
        </p:nvSpPr>
        <p:spPr>
          <a:xfrm>
            <a:off x="3364992" y="3374136"/>
            <a:ext cx="2834640" cy="292608"/>
          </a:xfrm>
          <a:prstGeom prst="rect">
            <a:avLst/>
          </a:prstGeom>
          <a:noFill/>
          <a:ln/>
        </p:spPr>
        <p:txBody>
          <a:bodyPr wrap="square" lIns="0" tIns="0" rIns="0" bIns="0" rtlCol="0" anchor="ctr"/>
          <a:lstStyle/>
          <a:p>
            <a:pPr indent="0" marL="0">
              <a:buNone/>
            </a:pPr>
            <a:r>
              <a:rPr lang="en-US" sz="1100" dirty="0">
                <a:solidFill>
                  <a:schemeClr val="tx1"/>
                </a:solidFill>
              </a:rPr>
              <a:t>Recovery started</a:t>
            </a:r>
            <a:endParaRPr lang="en-US" sz="1100" dirty="0"/>
          </a:p>
        </p:txBody>
      </p:sp>
      <p:sp>
        <p:nvSpPr>
          <p:cNvPr id="28" name="Revoked keys"/>
          <p:cNvSpPr/>
          <p:nvPr/>
        </p:nvSpPr>
        <p:spPr>
          <a:xfrm>
            <a:off x="6492240" y="1801368"/>
            <a:ext cx="1920240" cy="2011680"/>
          </a:xfrm>
          <a:prstGeom prst="roundRect">
            <a:avLst>
              <a:gd name="adj" fmla="val 3810"/>
            </a:avLst>
          </a:prstGeom>
          <a:solidFill>
            <a:schemeClr val="bg2"/>
          </a:solidFill>
          <a:ln/>
        </p:spPr>
      </p:sp>
      <p:sp>
        <p:nvSpPr>
          <p:cNvPr id="29" name="Text 27"/>
          <p:cNvSpPr txBox="1"/>
          <p:nvPr/>
        </p:nvSpPr>
        <p:spPr>
          <a:xfrm>
            <a:off x="6629400" y="1892808"/>
            <a:ext cx="1645920" cy="274320"/>
          </a:xfrm>
          <a:prstGeom prst="rect">
            <a:avLst/>
          </a:prstGeom>
          <a:noFill/>
          <a:ln/>
        </p:spPr>
        <p:txBody>
          <a:bodyPr wrap="square" lIns="0" tIns="0" rIns="0" bIns="0" rtlCol="0" anchor="t"/>
          <a:lstStyle/>
          <a:p>
            <a:pPr indent="0" marL="0">
              <a:buNone/>
            </a:pPr>
            <a:r>
              <a:rPr lang="en-US" sz="1300" b="1" dirty="0">
                <a:solidFill>
                  <a:schemeClr val="tx1"/>
                </a:solidFill>
              </a:rPr>
              <a:t>Revoked keys</a:t>
            </a:r>
            <a:endParaRPr lang="en-US" sz="1300" dirty="0"/>
          </a:p>
        </p:txBody>
      </p:sp>
      <p:sp>
        <p:nvSpPr>
          <p:cNvPr id="30" name="Shape 28"/>
          <p:cNvSpPr/>
          <p:nvPr/>
        </p:nvSpPr>
        <p:spPr>
          <a:xfrm>
            <a:off x="6647688" y="2368296"/>
            <a:ext cx="109728" cy="109728"/>
          </a:xfrm>
          <a:prstGeom prst="ellipse">
            <a:avLst/>
          </a:prstGeom>
          <a:solidFill>
            <a:schemeClr val="accent3"/>
          </a:solidFill>
          <a:ln/>
        </p:spPr>
      </p:sp>
      <p:sp>
        <p:nvSpPr>
          <p:cNvPr id="31" name="Text 29"/>
          <p:cNvSpPr txBox="1"/>
          <p:nvPr/>
        </p:nvSpPr>
        <p:spPr>
          <a:xfrm>
            <a:off x="6839712" y="2276856"/>
            <a:ext cx="1463040" cy="292608"/>
          </a:xfrm>
          <a:prstGeom prst="rect">
            <a:avLst/>
          </a:prstGeom>
          <a:noFill/>
          <a:ln/>
        </p:spPr>
        <p:txBody>
          <a:bodyPr wrap="square" lIns="0" tIns="0" rIns="0" bIns="0" rtlCol="0" anchor="ctr"/>
          <a:lstStyle/>
          <a:p>
            <a:pPr indent="0" marL="0">
              <a:buNone/>
            </a:pPr>
            <a:r>
              <a:rPr lang="en-US" sz="1100" dirty="0">
                <a:solidFill>
                  <a:schemeClr val="tx1"/>
                </a:solidFill>
              </a:rPr>
              <a:t>Old phone</a:t>
            </a:r>
            <a:endParaRPr lang="en-US" sz="1100" dirty="0"/>
          </a:p>
        </p:txBody>
      </p:sp>
      <p:sp>
        <p:nvSpPr>
          <p:cNvPr id="32" name="Shape 30"/>
          <p:cNvSpPr/>
          <p:nvPr/>
        </p:nvSpPr>
        <p:spPr>
          <a:xfrm>
            <a:off x="6647688" y="2734056"/>
            <a:ext cx="109728" cy="109728"/>
          </a:xfrm>
          <a:prstGeom prst="ellipse">
            <a:avLst/>
          </a:prstGeom>
          <a:solidFill>
            <a:schemeClr val="accent3"/>
          </a:solidFill>
          <a:ln/>
        </p:spPr>
      </p:sp>
      <p:sp>
        <p:nvSpPr>
          <p:cNvPr id="33" name="Text 31"/>
          <p:cNvSpPr txBox="1"/>
          <p:nvPr/>
        </p:nvSpPr>
        <p:spPr>
          <a:xfrm>
            <a:off x="6839712" y="2642616"/>
            <a:ext cx="1463040" cy="292608"/>
          </a:xfrm>
          <a:prstGeom prst="rect">
            <a:avLst/>
          </a:prstGeom>
          <a:noFill/>
          <a:ln/>
        </p:spPr>
        <p:txBody>
          <a:bodyPr wrap="square" lIns="0" tIns="0" rIns="0" bIns="0" rtlCol="0" anchor="ctr"/>
          <a:lstStyle/>
          <a:p>
            <a:pPr indent="0" marL="0">
              <a:buNone/>
            </a:pPr>
            <a:r>
              <a:rPr lang="en-US" sz="1100" dirty="0">
                <a:solidFill>
                  <a:schemeClr val="tx1"/>
                </a:solidFill>
              </a:rPr>
              <a:t>Cloned key</a:t>
            </a:r>
            <a:endParaRPr lang="en-US" sz="1100" dirty="0"/>
          </a:p>
        </p:txBody>
      </p:sp>
      <p:sp>
        <p:nvSpPr>
          <p:cNvPr id="34" name="Text 32"/>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dirty="0">
                <a:solidFill>
                  <a:schemeClr val="tx2"/>
                </a:solidFill>
              </a:rPr>
              <a:t>Every login, device change and blocked attempt is logged, and the log can't be edited.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Why our hand-sign check is hard to fake</a:t>
            </a:r>
            <a:endParaRPr lang="en-US" sz="3000" dirty="0"/>
          </a:p>
        </p:txBody>
      </p:sp>
      <p:sp>
        <p:nvSpPr>
          <p:cNvPr id="3" name="sequence"/>
          <p:cNvSpPr/>
          <p:nvPr/>
        </p:nvSpPr>
        <p:spPr>
          <a:xfrm>
            <a:off x="548640" y="1188720"/>
            <a:ext cx="3566160" cy="2743200"/>
          </a:xfrm>
          <a:prstGeom prst="roundRect">
            <a:avLst>
              <a:gd name="adj" fmla="val 2667"/>
            </a:avLst>
          </a:prstGeom>
          <a:solidFill>
            <a:schemeClr val="bg2"/>
          </a:solidFill>
          <a:ln/>
        </p:spPr>
      </p:sp>
      <p:sp>
        <p:nvSpPr>
          <p:cNvPr id="4" name="Shape 2"/>
          <p:cNvSpPr/>
          <p:nvPr/>
        </p:nvSpPr>
        <p:spPr>
          <a:xfrm>
            <a:off x="822960" y="1508760"/>
            <a:ext cx="1005840" cy="10058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74420" y="1760220"/>
            <a:ext cx="502920" cy="502920"/>
          </a:xfrm>
          <a:prstGeom prst="rect">
            <a:avLst/>
          </a:prstGeom>
        </p:spPr>
      </p:pic>
      <p:sp>
        <p:nvSpPr>
          <p:cNvPr id="6" name="Shape 3"/>
          <p:cNvSpPr/>
          <p:nvPr/>
        </p:nvSpPr>
        <p:spPr>
          <a:xfrm>
            <a:off x="1536192" y="1417320"/>
            <a:ext cx="384048" cy="384048"/>
          </a:xfrm>
          <a:prstGeom prst="ellipse">
            <a:avLst/>
          </a:prstGeom>
          <a:solidFill>
            <a:schemeClr val="bg1"/>
          </a:solidFill>
          <a:ln/>
        </p:spPr>
      </p:sp>
      <p:pic>
        <p:nvPicPr>
          <p:cNvPr id="7" name="Image 1" descr="preencoded.png">    </p:cNvPr>
          <p:cNvPicPr>
            <a:picLocks noChangeAspect="1"/>
          </p:cNvPicPr>
          <p:nvPr/>
        </p:nvPicPr>
        <p:blipFill>
          <a:blip r:embed="rId2"/>
          <a:stretch>
            <a:fillRect/>
          </a:stretch>
        </p:blipFill>
        <p:spPr>
          <a:xfrm>
            <a:off x="1613002" y="1494130"/>
            <a:ext cx="230429" cy="230429"/>
          </a:xfrm>
          <a:prstGeom prst="rect">
            <a:avLst/>
          </a:prstGeom>
        </p:spPr>
      </p:pic>
      <p:sp>
        <p:nvSpPr>
          <p:cNvPr id="8" name="Text 4"/>
          <p:cNvSpPr txBox="1"/>
          <p:nvPr/>
        </p:nvSpPr>
        <p:spPr>
          <a:xfrm>
            <a:off x="594360" y="2651760"/>
            <a:ext cx="1463040" cy="274320"/>
          </a:xfrm>
          <a:prstGeom prst="rect">
            <a:avLst/>
          </a:prstGeom>
          <a:noFill/>
          <a:ln/>
        </p:spPr>
        <p:txBody>
          <a:bodyPr wrap="square" lIns="0" tIns="0" rIns="0" bIns="0" rtlCol="0" anchor="t"/>
          <a:lstStyle/>
          <a:p>
            <a:pPr algn="ctr" indent="0" marL="0">
              <a:buNone/>
            </a:pPr>
            <a:r>
              <a:rPr lang="en-US" sz="1500" b="1" dirty="0">
                <a:solidFill>
                  <a:schemeClr val="tx1"/>
                </a:solidFill>
              </a:rPr>
              <a:t>Your sign</a:t>
            </a:r>
            <a:endParaRPr lang="en-US" sz="1500" dirty="0"/>
          </a:p>
        </p:txBody>
      </p:sp>
      <p:sp>
        <p:nvSpPr>
          <p:cNvPr id="9" name="Shape 5"/>
          <p:cNvSpPr/>
          <p:nvPr/>
        </p:nvSpPr>
        <p:spPr>
          <a:xfrm>
            <a:off x="2514600" y="1508760"/>
            <a:ext cx="1005840" cy="1005840"/>
          </a:xfrm>
          <a:prstGeom prst="ellipse">
            <a:avLst/>
          </a:prstGeom>
          <a:solidFill>
            <a:schemeClr val="accent5"/>
          </a:solidFill>
          <a:ln/>
        </p:spPr>
      </p:sp>
      <p:pic>
        <p:nvPicPr>
          <p:cNvPr id="10" name="Image 2" descr="preencoded.png">    </p:cNvPr>
          <p:cNvPicPr>
            <a:picLocks noChangeAspect="1"/>
          </p:cNvPicPr>
          <p:nvPr/>
        </p:nvPicPr>
        <p:blipFill>
          <a:blip r:embed="rId3"/>
          <a:stretch>
            <a:fillRect/>
          </a:stretch>
        </p:blipFill>
        <p:spPr>
          <a:xfrm>
            <a:off x="2766060" y="1760220"/>
            <a:ext cx="502920" cy="502920"/>
          </a:xfrm>
          <a:prstGeom prst="rect">
            <a:avLst/>
          </a:prstGeom>
        </p:spPr>
      </p:pic>
      <p:sp>
        <p:nvSpPr>
          <p:cNvPr id="11" name="Shape 6"/>
          <p:cNvSpPr/>
          <p:nvPr/>
        </p:nvSpPr>
        <p:spPr>
          <a:xfrm>
            <a:off x="3227832" y="1417320"/>
            <a:ext cx="384048" cy="384048"/>
          </a:xfrm>
          <a:prstGeom prst="ellipse">
            <a:avLst/>
          </a:prstGeom>
          <a:solidFill>
            <a:schemeClr val="bg1"/>
          </a:solidFill>
          <a:ln/>
        </p:spPr>
      </p:sp>
      <p:pic>
        <p:nvPicPr>
          <p:cNvPr id="12" name="Image 3" descr="preencoded.png">    </p:cNvPr>
          <p:cNvPicPr>
            <a:picLocks noChangeAspect="1"/>
          </p:cNvPicPr>
          <p:nvPr/>
        </p:nvPicPr>
        <p:blipFill>
          <a:blip r:embed="rId4"/>
          <a:stretch>
            <a:fillRect/>
          </a:stretch>
        </p:blipFill>
        <p:spPr>
          <a:xfrm>
            <a:off x="3304642" y="1494130"/>
            <a:ext cx="230429" cy="230429"/>
          </a:xfrm>
          <a:prstGeom prst="rect">
            <a:avLst/>
          </a:prstGeom>
        </p:spPr>
      </p:pic>
      <p:sp>
        <p:nvSpPr>
          <p:cNvPr id="13" name="Text 7"/>
          <p:cNvSpPr txBox="1"/>
          <p:nvPr/>
        </p:nvSpPr>
        <p:spPr>
          <a:xfrm>
            <a:off x="2286000" y="2651760"/>
            <a:ext cx="1463040" cy="274320"/>
          </a:xfrm>
          <a:prstGeom prst="rect">
            <a:avLst/>
          </a:prstGeom>
          <a:noFill/>
          <a:ln/>
        </p:spPr>
        <p:txBody>
          <a:bodyPr wrap="square" lIns="0" tIns="0" rIns="0" bIns="0" rtlCol="0" anchor="t"/>
          <a:lstStyle/>
          <a:p>
            <a:pPr algn="ctr" indent="0" marL="0">
              <a:buNone/>
            </a:pPr>
            <a:r>
              <a:rPr lang="en-US" sz="1500" b="1" dirty="0">
                <a:solidFill>
                  <a:schemeClr val="tx1"/>
                </a:solidFill>
              </a:rPr>
              <a:t>Random sign</a:t>
            </a:r>
            <a:endParaRPr lang="en-US" sz="1500" dirty="0"/>
          </a:p>
        </p:txBody>
      </p:sp>
      <p:sp>
        <p:nvSpPr>
          <p:cNvPr id="14" name="Shape 8"/>
          <p:cNvSpPr/>
          <p:nvPr/>
        </p:nvSpPr>
        <p:spPr>
          <a:xfrm>
            <a:off x="1965960" y="2011680"/>
            <a:ext cx="411480" cy="0"/>
          </a:xfrm>
          <a:prstGeom prst="line">
            <a:avLst/>
          </a:prstGeom>
          <a:noFill/>
          <a:ln w="15875">
            <a:solidFill>
              <a:srgbClr val="64748B"/>
            </a:solidFill>
            <a:prstDash val="solid"/>
            <a:tailEnd type="triangle"/>
          </a:ln>
        </p:spPr>
      </p:sp>
      <p:pic>
        <p:nvPicPr>
          <p:cNvPr id="15" name="Image 4" descr="preencoded.png">    </p:cNvPr>
          <p:cNvPicPr>
            <a:picLocks noChangeAspect="1"/>
          </p:cNvPicPr>
          <p:nvPr/>
        </p:nvPicPr>
        <p:blipFill>
          <a:blip r:embed="rId5"/>
          <a:stretch>
            <a:fillRect/>
          </a:stretch>
        </p:blipFill>
        <p:spPr>
          <a:xfrm>
            <a:off x="822960" y="3246120"/>
            <a:ext cx="320040" cy="320040"/>
          </a:xfrm>
          <a:prstGeom prst="rect">
            <a:avLst/>
          </a:prstGeom>
        </p:spPr>
      </p:pic>
      <p:sp>
        <p:nvSpPr>
          <p:cNvPr id="16" name="Text 9"/>
          <p:cNvSpPr txBox="1"/>
          <p:nvPr/>
        </p:nvSpPr>
        <p:spPr>
          <a:xfrm>
            <a:off x="1261872" y="3200400"/>
            <a:ext cx="2651760" cy="411480"/>
          </a:xfrm>
          <a:prstGeom prst="rect">
            <a:avLst/>
          </a:prstGeom>
          <a:noFill/>
          <a:ln/>
        </p:spPr>
        <p:txBody>
          <a:bodyPr wrap="square" lIns="0" tIns="0" rIns="0" bIns="0" rtlCol="0" anchor="ctr"/>
          <a:lstStyle/>
          <a:p>
            <a:pPr indent="0" marL="0">
              <a:buNone/>
            </a:pPr>
            <a:r>
              <a:rPr lang="en-US" sz="1400" i="1" dirty="0">
                <a:solidFill>
                  <a:schemeClr val="accent1"/>
                </a:solidFill>
              </a:rPr>
              <a:t>Order shuffles every check</a:t>
            </a:r>
            <a:endParaRPr lang="en-US" sz="1400" dirty="0"/>
          </a:p>
        </p:txBody>
      </p:sp>
      <p:sp>
        <p:nvSpPr>
          <p:cNvPr id="17" name="Shape 10"/>
          <p:cNvSpPr/>
          <p:nvPr/>
        </p:nvSpPr>
        <p:spPr>
          <a:xfrm>
            <a:off x="4434840" y="1188720"/>
            <a:ext cx="502920" cy="502920"/>
          </a:xfrm>
          <a:prstGeom prst="ellipse">
            <a:avLst/>
          </a:prstGeom>
          <a:solidFill>
            <a:schemeClr val="accent5"/>
          </a:solidFill>
          <a:ln/>
        </p:spPr>
      </p:sp>
      <p:pic>
        <p:nvPicPr>
          <p:cNvPr id="18" name="Image 5" descr="preencoded.png">    </p:cNvPr>
          <p:cNvPicPr>
            <a:picLocks noChangeAspect="1"/>
          </p:cNvPicPr>
          <p:nvPr/>
        </p:nvPicPr>
        <p:blipFill>
          <a:blip r:embed="rId6"/>
          <a:stretch>
            <a:fillRect/>
          </a:stretch>
        </p:blipFill>
        <p:spPr>
          <a:xfrm>
            <a:off x="4560570" y="1314450"/>
            <a:ext cx="251460" cy="251460"/>
          </a:xfrm>
          <a:prstGeom prst="rect">
            <a:avLst/>
          </a:prstGeom>
        </p:spPr>
      </p:pic>
      <p:sp>
        <p:nvSpPr>
          <p:cNvPr id="19" name="Text 11"/>
          <p:cNvSpPr txBox="1"/>
          <p:nvPr/>
        </p:nvSpPr>
        <p:spPr>
          <a:xfrm>
            <a:off x="5120640" y="1152144"/>
            <a:ext cx="3474720" cy="274320"/>
          </a:xfrm>
          <a:prstGeom prst="rect">
            <a:avLst/>
          </a:prstGeom>
          <a:noFill/>
          <a:ln/>
        </p:spPr>
        <p:txBody>
          <a:bodyPr wrap="square" lIns="0" tIns="0" rIns="0" bIns="0" rtlCol="0" anchor="t"/>
          <a:lstStyle/>
          <a:p>
            <a:pPr indent="0" marL="0">
              <a:buNone/>
            </a:pPr>
            <a:r>
              <a:rPr lang="en-US" sz="1600" b="1" dirty="0">
                <a:solidFill>
                  <a:schemeClr val="tx1"/>
                </a:solidFill>
              </a:rPr>
              <a:t>Your own sign</a:t>
            </a:r>
            <a:endParaRPr lang="en-US" sz="1600" dirty="0"/>
          </a:p>
        </p:txBody>
      </p:sp>
      <p:sp>
        <p:nvSpPr>
          <p:cNvPr id="20" name="Text 12"/>
          <p:cNvSpPr txBox="1"/>
          <p:nvPr/>
        </p:nvSpPr>
        <p:spPr>
          <a:xfrm>
            <a:off x="5120640" y="1426464"/>
            <a:ext cx="3474720" cy="256032"/>
          </a:xfrm>
          <a:prstGeom prst="rect">
            <a:avLst/>
          </a:prstGeom>
          <a:noFill/>
          <a:ln/>
        </p:spPr>
        <p:txBody>
          <a:bodyPr wrap="square" lIns="0" tIns="0" rIns="0" bIns="0" rtlCol="0" anchor="t"/>
          <a:lstStyle/>
          <a:p>
            <a:pPr indent="0" marL="0">
              <a:buNone/>
            </a:pPr>
            <a:r>
              <a:rPr lang="en-US" sz="1300" dirty="0">
                <a:solidFill>
                  <a:schemeClr val="tx2"/>
                </a:solidFill>
              </a:rPr>
              <a:t>A shape only you picked</a:t>
            </a:r>
            <a:endParaRPr lang="en-US" sz="1300" dirty="0"/>
          </a:p>
        </p:txBody>
      </p:sp>
      <p:sp>
        <p:nvSpPr>
          <p:cNvPr id="21" name="Shape 13"/>
          <p:cNvSpPr/>
          <p:nvPr/>
        </p:nvSpPr>
        <p:spPr>
          <a:xfrm>
            <a:off x="4434840" y="1892808"/>
            <a:ext cx="502920" cy="502920"/>
          </a:xfrm>
          <a:prstGeom prst="ellipse">
            <a:avLst/>
          </a:prstGeom>
          <a:solidFill>
            <a:schemeClr val="accent5"/>
          </a:solidFill>
          <a:ln/>
        </p:spPr>
      </p:sp>
      <p:pic>
        <p:nvPicPr>
          <p:cNvPr id="22" name="Image 6" descr="preencoded.png">    </p:cNvPr>
          <p:cNvPicPr>
            <a:picLocks noChangeAspect="1"/>
          </p:cNvPicPr>
          <p:nvPr/>
        </p:nvPicPr>
        <p:blipFill>
          <a:blip r:embed="rId7"/>
          <a:stretch>
            <a:fillRect/>
          </a:stretch>
        </p:blipFill>
        <p:spPr>
          <a:xfrm>
            <a:off x="4560570" y="2018538"/>
            <a:ext cx="251460" cy="251460"/>
          </a:xfrm>
          <a:prstGeom prst="rect">
            <a:avLst/>
          </a:prstGeom>
        </p:spPr>
      </p:pic>
      <p:sp>
        <p:nvSpPr>
          <p:cNvPr id="23" name="Text 14"/>
          <p:cNvSpPr txBox="1"/>
          <p:nvPr/>
        </p:nvSpPr>
        <p:spPr>
          <a:xfrm>
            <a:off x="5120640" y="1856232"/>
            <a:ext cx="3474720" cy="274320"/>
          </a:xfrm>
          <a:prstGeom prst="rect">
            <a:avLst/>
          </a:prstGeom>
          <a:noFill/>
          <a:ln/>
        </p:spPr>
        <p:txBody>
          <a:bodyPr wrap="square" lIns="0" tIns="0" rIns="0" bIns="0" rtlCol="0" anchor="t"/>
          <a:lstStyle/>
          <a:p>
            <a:pPr indent="0" marL="0">
              <a:buNone/>
            </a:pPr>
            <a:r>
              <a:rPr lang="en-US" sz="1600" b="1" dirty="0">
                <a:solidFill>
                  <a:schemeClr val="tx1"/>
                </a:solidFill>
              </a:rPr>
              <a:t>Plus a random one</a:t>
            </a:r>
            <a:endParaRPr lang="en-US" sz="1600" dirty="0"/>
          </a:p>
        </p:txBody>
      </p:sp>
      <p:sp>
        <p:nvSpPr>
          <p:cNvPr id="24" name="Text 15"/>
          <p:cNvSpPr txBox="1"/>
          <p:nvPr/>
        </p:nvSpPr>
        <p:spPr>
          <a:xfrm>
            <a:off x="5120640" y="2130552"/>
            <a:ext cx="3474720" cy="256032"/>
          </a:xfrm>
          <a:prstGeom prst="rect">
            <a:avLst/>
          </a:prstGeom>
          <a:noFill/>
          <a:ln/>
        </p:spPr>
        <p:txBody>
          <a:bodyPr wrap="square" lIns="0" tIns="0" rIns="0" bIns="0" rtlCol="0" anchor="t"/>
          <a:lstStyle/>
          <a:p>
            <a:pPr indent="0" marL="0">
              <a:buNone/>
            </a:pPr>
            <a:r>
              <a:rPr lang="en-US" sz="1300" dirty="0">
                <a:solidFill>
                  <a:schemeClr val="tx2"/>
                </a:solidFill>
              </a:rPr>
              <a:t>Old videos can't follow new prompts</a:t>
            </a:r>
            <a:endParaRPr lang="en-US" sz="1300" dirty="0"/>
          </a:p>
        </p:txBody>
      </p:sp>
      <p:sp>
        <p:nvSpPr>
          <p:cNvPr id="25" name="Shape 16"/>
          <p:cNvSpPr/>
          <p:nvPr/>
        </p:nvSpPr>
        <p:spPr>
          <a:xfrm>
            <a:off x="4434840" y="2596896"/>
            <a:ext cx="502920" cy="502920"/>
          </a:xfrm>
          <a:prstGeom prst="ellipse">
            <a:avLst/>
          </a:prstGeom>
          <a:solidFill>
            <a:schemeClr val="accent5"/>
          </a:solidFill>
          <a:ln/>
        </p:spPr>
      </p:sp>
      <p:pic>
        <p:nvPicPr>
          <p:cNvPr id="26" name="Image 7" descr="preencoded.png">    </p:cNvPr>
          <p:cNvPicPr>
            <a:picLocks noChangeAspect="1"/>
          </p:cNvPicPr>
          <p:nvPr/>
        </p:nvPicPr>
        <p:blipFill>
          <a:blip r:embed="rId8"/>
          <a:stretch>
            <a:fillRect/>
          </a:stretch>
        </p:blipFill>
        <p:spPr>
          <a:xfrm>
            <a:off x="4560570" y="2722626"/>
            <a:ext cx="251460" cy="251460"/>
          </a:xfrm>
          <a:prstGeom prst="rect">
            <a:avLst/>
          </a:prstGeom>
        </p:spPr>
      </p:pic>
      <p:sp>
        <p:nvSpPr>
          <p:cNvPr id="27" name="Text 17"/>
          <p:cNvSpPr txBox="1"/>
          <p:nvPr/>
        </p:nvSpPr>
        <p:spPr>
          <a:xfrm>
            <a:off x="5120640" y="2560320"/>
            <a:ext cx="3474720" cy="274320"/>
          </a:xfrm>
          <a:prstGeom prst="rect">
            <a:avLst/>
          </a:prstGeom>
          <a:noFill/>
          <a:ln/>
        </p:spPr>
        <p:txBody>
          <a:bodyPr wrap="square" lIns="0" tIns="0" rIns="0" bIns="0" rtlCol="0" anchor="t"/>
          <a:lstStyle/>
          <a:p>
            <a:pPr indent="0" marL="0">
              <a:buNone/>
            </a:pPr>
            <a:r>
              <a:rPr lang="en-US" sz="1600" b="1" dirty="0">
                <a:solidFill>
                  <a:schemeClr val="tx1"/>
                </a:solidFill>
              </a:rPr>
              <a:t>Same face the whole time</a:t>
            </a:r>
            <a:endParaRPr lang="en-US" sz="1600" dirty="0"/>
          </a:p>
        </p:txBody>
      </p:sp>
      <p:sp>
        <p:nvSpPr>
          <p:cNvPr id="28" name="Text 18"/>
          <p:cNvSpPr txBox="1"/>
          <p:nvPr/>
        </p:nvSpPr>
        <p:spPr>
          <a:xfrm>
            <a:off x="5120640" y="2834640"/>
            <a:ext cx="3474720" cy="256032"/>
          </a:xfrm>
          <a:prstGeom prst="rect">
            <a:avLst/>
          </a:prstGeom>
          <a:noFill/>
          <a:ln/>
        </p:spPr>
        <p:txBody>
          <a:bodyPr wrap="square" lIns="0" tIns="0" rIns="0" bIns="0" rtlCol="0" anchor="t"/>
          <a:lstStyle/>
          <a:p>
            <a:pPr indent="0" marL="0">
              <a:buNone/>
            </a:pPr>
            <a:r>
              <a:rPr lang="en-US" sz="1300" dirty="0">
                <a:solidFill>
                  <a:schemeClr val="tx2"/>
                </a:solidFill>
              </a:rPr>
              <a:t>Hand next to your face, no splicing</a:t>
            </a:r>
            <a:endParaRPr lang="en-US" sz="1300" dirty="0"/>
          </a:p>
        </p:txBody>
      </p:sp>
      <p:sp>
        <p:nvSpPr>
          <p:cNvPr id="29" name="Shape 19"/>
          <p:cNvSpPr/>
          <p:nvPr/>
        </p:nvSpPr>
        <p:spPr>
          <a:xfrm>
            <a:off x="4434840" y="3300984"/>
            <a:ext cx="502920" cy="502920"/>
          </a:xfrm>
          <a:prstGeom prst="ellipse">
            <a:avLst/>
          </a:prstGeom>
          <a:solidFill>
            <a:schemeClr val="accent5"/>
          </a:solidFill>
          <a:ln/>
        </p:spPr>
      </p:sp>
      <p:pic>
        <p:nvPicPr>
          <p:cNvPr id="30" name="Image 8" descr="preencoded.png">    </p:cNvPr>
          <p:cNvPicPr>
            <a:picLocks noChangeAspect="1"/>
          </p:cNvPicPr>
          <p:nvPr/>
        </p:nvPicPr>
        <p:blipFill>
          <a:blip r:embed="rId9"/>
          <a:stretch>
            <a:fillRect/>
          </a:stretch>
        </p:blipFill>
        <p:spPr>
          <a:xfrm>
            <a:off x="4560570" y="3426714"/>
            <a:ext cx="251460" cy="251460"/>
          </a:xfrm>
          <a:prstGeom prst="rect">
            <a:avLst/>
          </a:prstGeom>
        </p:spPr>
      </p:pic>
      <p:sp>
        <p:nvSpPr>
          <p:cNvPr id="31" name="Text 20"/>
          <p:cNvSpPr txBox="1"/>
          <p:nvPr/>
        </p:nvSpPr>
        <p:spPr>
          <a:xfrm>
            <a:off x="5120640" y="3264408"/>
            <a:ext cx="3474720" cy="274320"/>
          </a:xfrm>
          <a:prstGeom prst="rect">
            <a:avLst/>
          </a:prstGeom>
          <a:noFill/>
          <a:ln/>
        </p:spPr>
        <p:txBody>
          <a:bodyPr wrap="square" lIns="0" tIns="0" rIns="0" bIns="0" rtlCol="0" anchor="t"/>
          <a:lstStyle/>
          <a:p>
            <a:pPr indent="0" marL="0">
              <a:buNone/>
            </a:pPr>
            <a:r>
              <a:rPr lang="en-US" sz="1600" b="1" dirty="0">
                <a:solidFill>
                  <a:schemeClr val="tx1"/>
                </a:solidFill>
              </a:rPr>
              <a:t>Checked on our server</a:t>
            </a:r>
            <a:endParaRPr lang="en-US" sz="1600" dirty="0"/>
          </a:p>
        </p:txBody>
      </p:sp>
      <p:sp>
        <p:nvSpPr>
          <p:cNvPr id="32" name="Text 21"/>
          <p:cNvSpPr txBox="1"/>
          <p:nvPr/>
        </p:nvSpPr>
        <p:spPr>
          <a:xfrm>
            <a:off x="5120640" y="3538728"/>
            <a:ext cx="3474720" cy="256032"/>
          </a:xfrm>
          <a:prstGeom prst="rect">
            <a:avLst/>
          </a:prstGeom>
          <a:noFill/>
          <a:ln/>
        </p:spPr>
        <p:txBody>
          <a:bodyPr wrap="square" lIns="0" tIns="0" rIns="0" bIns="0" rtlCol="0" anchor="t"/>
          <a:lstStyle/>
          <a:p>
            <a:pPr indent="0" marL="0">
              <a:buNone/>
            </a:pPr>
            <a:r>
              <a:rPr lang="en-US" sz="1300" dirty="0">
                <a:solidFill>
                  <a:schemeClr val="tx2"/>
                </a:solidFill>
              </a:rPr>
              <a:t>Photos never stored, template encrypted</a:t>
            </a:r>
            <a:endParaRPr lang="en-US" sz="1300" dirty="0"/>
          </a:p>
        </p:txBody>
      </p:sp>
      <p:sp>
        <p:nvSpPr>
          <p:cNvPr id="33" name="Text 22"/>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600" i="1" dirty="0">
                <a:solidFill>
                  <a:schemeClr val="accent1"/>
                </a:solidFill>
              </a:rPr>
              <a:t>A second lock on top of the passkey, never a login on its own.</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Easy for everyone, not just power users</a:t>
            </a:r>
            <a:endParaRPr lang="en-US" sz="3000" dirty="0"/>
          </a:p>
        </p:txBody>
      </p:sp>
      <p:sp>
        <p:nvSpPr>
          <p:cNvPr id="3" name="inclusive 1"/>
          <p:cNvSpPr/>
          <p:nvPr/>
        </p:nvSpPr>
        <p:spPr>
          <a:xfrm>
            <a:off x="548640" y="1188720"/>
            <a:ext cx="1828800" cy="2377440"/>
          </a:xfrm>
          <a:prstGeom prst="roundRect">
            <a:avLst>
              <a:gd name="adj" fmla="val 4000"/>
            </a:avLst>
          </a:prstGeom>
          <a:solidFill>
            <a:schemeClr val="bg2"/>
          </a:solidFill>
          <a:ln/>
        </p:spPr>
      </p:sp>
      <p:sp>
        <p:nvSpPr>
          <p:cNvPr id="4" name="Shape 2"/>
          <p:cNvSpPr/>
          <p:nvPr/>
        </p:nvSpPr>
        <p:spPr>
          <a:xfrm>
            <a:off x="1097280" y="1463040"/>
            <a:ext cx="731520" cy="7315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280160" y="1645920"/>
            <a:ext cx="365760" cy="365760"/>
          </a:xfrm>
          <a:prstGeom prst="rect">
            <a:avLst/>
          </a:prstGeom>
        </p:spPr>
      </p:pic>
      <p:sp>
        <p:nvSpPr>
          <p:cNvPr id="6" name="Text 3"/>
          <p:cNvSpPr txBox="1"/>
          <p:nvPr/>
        </p:nvSpPr>
        <p:spPr>
          <a:xfrm>
            <a:off x="640080" y="237744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Voice prompts</a:t>
            </a:r>
            <a:endParaRPr lang="en-US" sz="1600" dirty="0"/>
          </a:p>
        </p:txBody>
      </p:sp>
      <p:sp>
        <p:nvSpPr>
          <p:cNvPr id="7" name="Text 4"/>
          <p:cNvSpPr txBox="1"/>
          <p:nvPr/>
        </p:nvSpPr>
        <p:spPr>
          <a:xfrm>
            <a:off x="685800" y="2880360"/>
            <a:ext cx="1554480" cy="502920"/>
          </a:xfrm>
          <a:prstGeom prst="rect">
            <a:avLst/>
          </a:prstGeom>
          <a:noFill/>
          <a:ln/>
        </p:spPr>
        <p:txBody>
          <a:bodyPr wrap="square" lIns="0" tIns="0" rIns="0" bIns="0" rtlCol="0" anchor="t"/>
          <a:lstStyle/>
          <a:p>
            <a:pPr algn="ctr" indent="0" marL="0">
              <a:buNone/>
            </a:pPr>
            <a:r>
              <a:rPr lang="en-US" sz="1200" dirty="0">
                <a:solidFill>
                  <a:schemeClr val="tx2"/>
                </a:solidFill>
              </a:rPr>
              <a:t>Every step can be read aloud</a:t>
            </a:r>
            <a:endParaRPr lang="en-US" sz="1200" dirty="0"/>
          </a:p>
        </p:txBody>
      </p:sp>
      <p:sp>
        <p:nvSpPr>
          <p:cNvPr id="8" name="inclusive 2"/>
          <p:cNvSpPr/>
          <p:nvPr/>
        </p:nvSpPr>
        <p:spPr>
          <a:xfrm>
            <a:off x="2624328" y="1188720"/>
            <a:ext cx="1828800" cy="2377440"/>
          </a:xfrm>
          <a:prstGeom prst="roundRect">
            <a:avLst>
              <a:gd name="adj" fmla="val 4000"/>
            </a:avLst>
          </a:prstGeom>
          <a:solidFill>
            <a:schemeClr val="bg2"/>
          </a:solidFill>
          <a:ln/>
        </p:spPr>
      </p:sp>
      <p:sp>
        <p:nvSpPr>
          <p:cNvPr id="9" name="Shape 6"/>
          <p:cNvSpPr/>
          <p:nvPr/>
        </p:nvSpPr>
        <p:spPr>
          <a:xfrm>
            <a:off x="3172968" y="1463040"/>
            <a:ext cx="731520" cy="7315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355848" y="1645920"/>
            <a:ext cx="365760" cy="365760"/>
          </a:xfrm>
          <a:prstGeom prst="rect">
            <a:avLst/>
          </a:prstGeom>
        </p:spPr>
      </p:pic>
      <p:sp>
        <p:nvSpPr>
          <p:cNvPr id="11" name="Text 7"/>
          <p:cNvSpPr txBox="1"/>
          <p:nvPr/>
        </p:nvSpPr>
        <p:spPr>
          <a:xfrm>
            <a:off x="2715768" y="237744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QR from a trusted phone</a:t>
            </a:r>
            <a:endParaRPr lang="en-US" sz="1600" dirty="0"/>
          </a:p>
        </p:txBody>
      </p:sp>
      <p:sp>
        <p:nvSpPr>
          <p:cNvPr id="12" name="Text 8"/>
          <p:cNvSpPr txBox="1"/>
          <p:nvPr/>
        </p:nvSpPr>
        <p:spPr>
          <a:xfrm>
            <a:off x="2761488" y="2880360"/>
            <a:ext cx="1554480" cy="502920"/>
          </a:xfrm>
          <a:prstGeom prst="rect">
            <a:avLst/>
          </a:prstGeom>
          <a:noFill/>
          <a:ln/>
        </p:spPr>
        <p:txBody>
          <a:bodyPr wrap="square" lIns="0" tIns="0" rIns="0" bIns="0" rtlCol="0" anchor="t"/>
          <a:lstStyle/>
          <a:p>
            <a:pPr algn="ctr" indent="0" marL="0">
              <a:buNone/>
            </a:pPr>
            <a:r>
              <a:rPr lang="en-US" sz="1200" dirty="0">
                <a:solidFill>
                  <a:schemeClr val="tx2"/>
                </a:solidFill>
              </a:rPr>
              <a:t>Sign in a new device, no typing</a:t>
            </a:r>
            <a:endParaRPr lang="en-US" sz="1200" dirty="0"/>
          </a:p>
        </p:txBody>
      </p:sp>
      <p:sp>
        <p:nvSpPr>
          <p:cNvPr id="13" name="inclusive 3"/>
          <p:cNvSpPr/>
          <p:nvPr/>
        </p:nvSpPr>
        <p:spPr>
          <a:xfrm>
            <a:off x="4700016" y="1188720"/>
            <a:ext cx="1828800" cy="2377440"/>
          </a:xfrm>
          <a:prstGeom prst="roundRect">
            <a:avLst>
              <a:gd name="adj" fmla="val 4000"/>
            </a:avLst>
          </a:prstGeom>
          <a:solidFill>
            <a:schemeClr val="bg2"/>
          </a:solidFill>
          <a:ln/>
        </p:spPr>
      </p:sp>
      <p:sp>
        <p:nvSpPr>
          <p:cNvPr id="14" name="Shape 10"/>
          <p:cNvSpPr/>
          <p:nvPr/>
        </p:nvSpPr>
        <p:spPr>
          <a:xfrm>
            <a:off x="5248656" y="1463040"/>
            <a:ext cx="731520" cy="7315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5431536" y="1645920"/>
            <a:ext cx="365760" cy="365760"/>
          </a:xfrm>
          <a:prstGeom prst="rect">
            <a:avLst/>
          </a:prstGeom>
        </p:spPr>
      </p:pic>
      <p:sp>
        <p:nvSpPr>
          <p:cNvPr id="16" name="Text 11"/>
          <p:cNvSpPr txBox="1"/>
          <p:nvPr/>
        </p:nvSpPr>
        <p:spPr>
          <a:xfrm>
            <a:off x="4791456" y="237744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Security key or card</a:t>
            </a:r>
            <a:endParaRPr lang="en-US" sz="1600" dirty="0"/>
          </a:p>
        </p:txBody>
      </p:sp>
      <p:sp>
        <p:nvSpPr>
          <p:cNvPr id="17" name="Text 12"/>
          <p:cNvSpPr txBox="1"/>
          <p:nvPr/>
        </p:nvSpPr>
        <p:spPr>
          <a:xfrm>
            <a:off x="4837176" y="2880360"/>
            <a:ext cx="1554480" cy="502920"/>
          </a:xfrm>
          <a:prstGeom prst="rect">
            <a:avLst/>
          </a:prstGeom>
          <a:noFill/>
          <a:ln/>
        </p:spPr>
        <p:txBody>
          <a:bodyPr wrap="square" lIns="0" tIns="0" rIns="0" bIns="0" rtlCol="0" anchor="t"/>
          <a:lstStyle/>
          <a:p>
            <a:pPr algn="ctr" indent="0" marL="0">
              <a:buNone/>
            </a:pPr>
            <a:r>
              <a:rPr lang="en-US" sz="1200" dirty="0">
                <a:solidFill>
                  <a:schemeClr val="tx2"/>
                </a:solidFill>
              </a:rPr>
              <a:t>For people without a smartphone</a:t>
            </a:r>
            <a:endParaRPr lang="en-US" sz="1200" dirty="0"/>
          </a:p>
        </p:txBody>
      </p:sp>
      <p:sp>
        <p:nvSpPr>
          <p:cNvPr id="18" name="inclusive 4"/>
          <p:cNvSpPr/>
          <p:nvPr/>
        </p:nvSpPr>
        <p:spPr>
          <a:xfrm>
            <a:off x="6775704" y="1188720"/>
            <a:ext cx="1828800" cy="2377440"/>
          </a:xfrm>
          <a:prstGeom prst="roundRect">
            <a:avLst>
              <a:gd name="adj" fmla="val 4000"/>
            </a:avLst>
          </a:prstGeom>
          <a:solidFill>
            <a:schemeClr val="bg2"/>
          </a:solidFill>
          <a:ln/>
        </p:spPr>
      </p:sp>
      <p:sp>
        <p:nvSpPr>
          <p:cNvPr id="19" name="Shape 14"/>
          <p:cNvSpPr/>
          <p:nvPr/>
        </p:nvSpPr>
        <p:spPr>
          <a:xfrm>
            <a:off x="7324344" y="1463040"/>
            <a:ext cx="731520" cy="73152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7507224" y="1645920"/>
            <a:ext cx="365760" cy="365760"/>
          </a:xfrm>
          <a:prstGeom prst="rect">
            <a:avLst/>
          </a:prstGeom>
        </p:spPr>
      </p:pic>
      <p:sp>
        <p:nvSpPr>
          <p:cNvPr id="21" name="Text 15"/>
          <p:cNvSpPr txBox="1"/>
          <p:nvPr/>
        </p:nvSpPr>
        <p:spPr>
          <a:xfrm>
            <a:off x="6867144" y="237744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Small screens</a:t>
            </a:r>
            <a:endParaRPr lang="en-US" sz="1600" dirty="0"/>
          </a:p>
        </p:txBody>
      </p:sp>
      <p:sp>
        <p:nvSpPr>
          <p:cNvPr id="22" name="Text 16"/>
          <p:cNvSpPr txBox="1"/>
          <p:nvPr/>
        </p:nvSpPr>
        <p:spPr>
          <a:xfrm>
            <a:off x="6912864" y="2880360"/>
            <a:ext cx="1554480" cy="502920"/>
          </a:xfrm>
          <a:prstGeom prst="rect">
            <a:avLst/>
          </a:prstGeom>
          <a:noFill/>
          <a:ln/>
        </p:spPr>
        <p:txBody>
          <a:bodyPr wrap="square" lIns="0" tIns="0" rIns="0" bIns="0" rtlCol="0" anchor="t"/>
          <a:lstStyle/>
          <a:p>
            <a:pPr algn="ctr" indent="0" marL="0">
              <a:buNone/>
            </a:pPr>
            <a:r>
              <a:rPr lang="en-US" sz="1200" dirty="0">
                <a:solidFill>
                  <a:schemeClr val="tx2"/>
                </a:solidFill>
              </a:rPr>
              <a:t>Works on 360 px wide phones</a:t>
            </a:r>
            <a:endParaRPr lang="en-US" sz="1200" dirty="0"/>
          </a:p>
        </p:txBody>
      </p:sp>
      <p:sp>
        <p:nvSpPr>
          <p:cNvPr id="23" name="Text 17"/>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600" i="1" dirty="0">
                <a:solidFill>
                  <a:schemeClr val="accent1"/>
                </a:solidFill>
              </a:rPr>
              <a:t>Plain words on every screen. No codes to read, copy or type.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What we stop, and what we don't (yet)</a:t>
            </a:r>
            <a:endParaRPr lang="en-US" sz="3000" dirty="0"/>
          </a:p>
        </p:txBody>
      </p:sp>
      <p:sp>
        <p:nvSpPr>
          <p:cNvPr id="3" name="stopped"/>
          <p:cNvSpPr/>
          <p:nvPr/>
        </p:nvSpPr>
        <p:spPr>
          <a:xfrm>
            <a:off x="548640" y="1188720"/>
            <a:ext cx="4572000" cy="2743200"/>
          </a:xfrm>
          <a:prstGeom prst="roundRect">
            <a:avLst>
              <a:gd name="adj" fmla="val 2667"/>
            </a:avLst>
          </a:prstGeom>
          <a:solidFill>
            <a:schemeClr val="bg2"/>
          </a:solidFill>
          <a:ln/>
        </p:spPr>
      </p:sp>
      <p:sp>
        <p:nvSpPr>
          <p:cNvPr id="4" name="Text 2"/>
          <p:cNvSpPr txBox="1"/>
          <p:nvPr/>
        </p:nvSpPr>
        <p:spPr>
          <a:xfrm>
            <a:off x="777240" y="1325880"/>
            <a:ext cx="2743200" cy="320040"/>
          </a:xfrm>
          <a:prstGeom prst="rect">
            <a:avLst/>
          </a:prstGeom>
          <a:noFill/>
          <a:ln/>
        </p:spPr>
        <p:txBody>
          <a:bodyPr wrap="square" lIns="0" tIns="0" rIns="0" bIns="0" rtlCol="0" anchor="t"/>
          <a:lstStyle/>
          <a:p>
            <a:pPr indent="0" marL="0">
              <a:buNone/>
            </a:pPr>
            <a:r>
              <a:rPr lang="en-US" sz="1800" b="1" dirty="0">
                <a:solidFill>
                  <a:schemeClr val="accent1"/>
                </a:solidFill>
              </a:rPr>
              <a:t>Stopped</a:t>
            </a:r>
            <a:endParaRPr lang="en-US" sz="1800" dirty="0"/>
          </a:p>
        </p:txBody>
      </p:sp>
      <p:sp>
        <p:nvSpPr>
          <p:cNvPr id="5" name="Shape 3"/>
          <p:cNvSpPr/>
          <p:nvPr/>
        </p:nvSpPr>
        <p:spPr>
          <a:xfrm>
            <a:off x="777240" y="1792224"/>
            <a:ext cx="219456" cy="219456"/>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21131" y="1836115"/>
            <a:ext cx="131674" cy="131674"/>
          </a:xfrm>
          <a:prstGeom prst="rect">
            <a:avLst/>
          </a:prstGeom>
        </p:spPr>
      </p:pic>
      <p:sp>
        <p:nvSpPr>
          <p:cNvPr id="7" name="Text 4"/>
          <p:cNvSpPr txBox="1"/>
          <p:nvPr/>
        </p:nvSpPr>
        <p:spPr>
          <a:xfrm>
            <a:off x="1115568" y="1755648"/>
            <a:ext cx="3840480" cy="292608"/>
          </a:xfrm>
          <a:prstGeom prst="rect">
            <a:avLst/>
          </a:prstGeom>
          <a:noFill/>
          <a:ln/>
        </p:spPr>
        <p:txBody>
          <a:bodyPr wrap="square" lIns="0" tIns="0" rIns="0" bIns="0" rtlCol="0" anchor="ctr"/>
          <a:lstStyle/>
          <a:p>
            <a:pPr indent="0" marL="0">
              <a:buNone/>
            </a:pPr>
            <a:r>
              <a:rPr lang="en-US" sz="1400" dirty="0">
                <a:solidFill>
                  <a:schemeClr val="tx1"/>
                </a:solidFill>
              </a:rPr>
              <a:t>Phishing and look-alike sites</a:t>
            </a:r>
            <a:endParaRPr lang="en-US" sz="1400" dirty="0"/>
          </a:p>
        </p:txBody>
      </p:sp>
      <p:sp>
        <p:nvSpPr>
          <p:cNvPr id="8" name="Shape 5"/>
          <p:cNvSpPr/>
          <p:nvPr/>
        </p:nvSpPr>
        <p:spPr>
          <a:xfrm>
            <a:off x="777240" y="2130552"/>
            <a:ext cx="219456" cy="219456"/>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821131" y="2174443"/>
            <a:ext cx="131674" cy="131674"/>
          </a:xfrm>
          <a:prstGeom prst="rect">
            <a:avLst/>
          </a:prstGeom>
        </p:spPr>
      </p:pic>
      <p:sp>
        <p:nvSpPr>
          <p:cNvPr id="10" name="Text 6"/>
          <p:cNvSpPr txBox="1"/>
          <p:nvPr/>
        </p:nvSpPr>
        <p:spPr>
          <a:xfrm>
            <a:off x="1115568" y="2093976"/>
            <a:ext cx="3840480" cy="292608"/>
          </a:xfrm>
          <a:prstGeom prst="rect">
            <a:avLst/>
          </a:prstGeom>
          <a:noFill/>
          <a:ln/>
        </p:spPr>
        <p:txBody>
          <a:bodyPr wrap="square" lIns="0" tIns="0" rIns="0" bIns="0" rtlCol="0" anchor="ctr"/>
          <a:lstStyle/>
          <a:p>
            <a:pPr indent="0" marL="0">
              <a:buNone/>
            </a:pPr>
            <a:r>
              <a:rPr lang="en-US" sz="1400" dirty="0">
                <a:solidFill>
                  <a:schemeClr val="tx1"/>
                </a:solidFill>
              </a:rPr>
              <a:t>Leaked or reused passwords</a:t>
            </a:r>
            <a:endParaRPr lang="en-US" sz="1400" dirty="0"/>
          </a:p>
        </p:txBody>
      </p:sp>
      <p:sp>
        <p:nvSpPr>
          <p:cNvPr id="11" name="Shape 7"/>
          <p:cNvSpPr/>
          <p:nvPr/>
        </p:nvSpPr>
        <p:spPr>
          <a:xfrm>
            <a:off x="777240" y="2468880"/>
            <a:ext cx="219456" cy="219456"/>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821131" y="2512771"/>
            <a:ext cx="131674" cy="131674"/>
          </a:xfrm>
          <a:prstGeom prst="rect">
            <a:avLst/>
          </a:prstGeom>
        </p:spPr>
      </p:pic>
      <p:sp>
        <p:nvSpPr>
          <p:cNvPr id="13" name="Text 8"/>
          <p:cNvSpPr txBox="1"/>
          <p:nvPr/>
        </p:nvSpPr>
        <p:spPr>
          <a:xfrm>
            <a:off x="1115568" y="2432304"/>
            <a:ext cx="3840480" cy="292608"/>
          </a:xfrm>
          <a:prstGeom prst="rect">
            <a:avLst/>
          </a:prstGeom>
          <a:noFill/>
          <a:ln/>
        </p:spPr>
        <p:txBody>
          <a:bodyPr wrap="square" lIns="0" tIns="0" rIns="0" bIns="0" rtlCol="0" anchor="ctr"/>
          <a:lstStyle/>
          <a:p>
            <a:pPr indent="0" marL="0">
              <a:buNone/>
            </a:pPr>
            <a:r>
              <a:rPr lang="en-US" sz="1400" dirty="0">
                <a:solidFill>
                  <a:schemeClr val="tx1"/>
                </a:solidFill>
              </a:rPr>
              <a:t>SIM swaps and OTP theft</a:t>
            </a:r>
            <a:endParaRPr lang="en-US" sz="1400" dirty="0"/>
          </a:p>
        </p:txBody>
      </p:sp>
      <p:sp>
        <p:nvSpPr>
          <p:cNvPr id="14" name="Shape 9"/>
          <p:cNvSpPr/>
          <p:nvPr/>
        </p:nvSpPr>
        <p:spPr>
          <a:xfrm>
            <a:off x="777240" y="2807208"/>
            <a:ext cx="219456" cy="219456"/>
          </a:xfrm>
          <a:prstGeom prst="ellipse">
            <a:avLst/>
          </a:prstGeom>
          <a:solidFill>
            <a:schemeClr val="accent1"/>
          </a:solidFill>
          <a:ln/>
        </p:spPr>
      </p:sp>
      <p:pic>
        <p:nvPicPr>
          <p:cNvPr id="15" name="Image 3" descr="preencoded.png">    </p:cNvPr>
          <p:cNvPicPr>
            <a:picLocks noChangeAspect="1"/>
          </p:cNvPicPr>
          <p:nvPr/>
        </p:nvPicPr>
        <p:blipFill>
          <a:blip r:embed="rId4"/>
          <a:stretch>
            <a:fillRect/>
          </a:stretch>
        </p:blipFill>
        <p:spPr>
          <a:xfrm>
            <a:off x="821131" y="2851099"/>
            <a:ext cx="131674" cy="131674"/>
          </a:xfrm>
          <a:prstGeom prst="rect">
            <a:avLst/>
          </a:prstGeom>
        </p:spPr>
      </p:pic>
      <p:sp>
        <p:nvSpPr>
          <p:cNvPr id="16" name="Text 10"/>
          <p:cNvSpPr txBox="1"/>
          <p:nvPr/>
        </p:nvSpPr>
        <p:spPr>
          <a:xfrm>
            <a:off x="1115568" y="2770632"/>
            <a:ext cx="3840480" cy="292608"/>
          </a:xfrm>
          <a:prstGeom prst="rect">
            <a:avLst/>
          </a:prstGeom>
          <a:noFill/>
          <a:ln/>
        </p:spPr>
        <p:txBody>
          <a:bodyPr wrap="square" lIns="0" tIns="0" rIns="0" bIns="0" rtlCol="0" anchor="ctr"/>
          <a:lstStyle/>
          <a:p>
            <a:pPr indent="0" marL="0">
              <a:buNone/>
            </a:pPr>
            <a:r>
              <a:rPr lang="en-US" sz="1400" dirty="0">
                <a:solidFill>
                  <a:schemeClr val="tx1"/>
                </a:solidFill>
              </a:rPr>
              <a:t>Photo or video replay</a:t>
            </a:r>
            <a:endParaRPr lang="en-US" sz="1400" dirty="0"/>
          </a:p>
        </p:txBody>
      </p:sp>
      <p:sp>
        <p:nvSpPr>
          <p:cNvPr id="17" name="Shape 11"/>
          <p:cNvSpPr/>
          <p:nvPr/>
        </p:nvSpPr>
        <p:spPr>
          <a:xfrm>
            <a:off x="777240" y="3145536"/>
            <a:ext cx="219456" cy="219456"/>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821131" y="3189427"/>
            <a:ext cx="131674" cy="131674"/>
          </a:xfrm>
          <a:prstGeom prst="rect">
            <a:avLst/>
          </a:prstGeom>
        </p:spPr>
      </p:pic>
      <p:sp>
        <p:nvSpPr>
          <p:cNvPr id="19" name="Text 12"/>
          <p:cNvSpPr txBox="1"/>
          <p:nvPr/>
        </p:nvSpPr>
        <p:spPr>
          <a:xfrm>
            <a:off x="1115568" y="3108960"/>
            <a:ext cx="3840480" cy="292608"/>
          </a:xfrm>
          <a:prstGeom prst="rect">
            <a:avLst/>
          </a:prstGeom>
          <a:noFill/>
          <a:ln/>
        </p:spPr>
        <p:txBody>
          <a:bodyPr wrap="square" lIns="0" tIns="0" rIns="0" bIns="0" rtlCol="0" anchor="ctr"/>
          <a:lstStyle/>
          <a:p>
            <a:pPr indent="0" marL="0">
              <a:buNone/>
            </a:pPr>
            <a:r>
              <a:rPr lang="en-US" sz="1400" dirty="0">
                <a:solidFill>
                  <a:schemeClr val="tx1"/>
                </a:solidFill>
              </a:rPr>
              <a:t>Lost, stolen or cloned devices</a:t>
            </a:r>
            <a:endParaRPr lang="en-US" sz="1400" dirty="0"/>
          </a:p>
        </p:txBody>
      </p:sp>
      <p:sp>
        <p:nvSpPr>
          <p:cNvPr id="20" name="Shape 13"/>
          <p:cNvSpPr/>
          <p:nvPr/>
        </p:nvSpPr>
        <p:spPr>
          <a:xfrm>
            <a:off x="777240" y="3483864"/>
            <a:ext cx="219456" cy="219456"/>
          </a:xfrm>
          <a:prstGeom prst="ellipse">
            <a:avLst/>
          </a:prstGeom>
          <a:solidFill>
            <a:schemeClr val="accent1"/>
          </a:solidFill>
          <a:ln/>
        </p:spPr>
      </p:sp>
      <p:pic>
        <p:nvPicPr>
          <p:cNvPr id="21" name="Image 5" descr="preencoded.png">    </p:cNvPr>
          <p:cNvPicPr>
            <a:picLocks noChangeAspect="1"/>
          </p:cNvPicPr>
          <p:nvPr/>
        </p:nvPicPr>
        <p:blipFill>
          <a:blip r:embed="rId6"/>
          <a:stretch>
            <a:fillRect/>
          </a:stretch>
        </p:blipFill>
        <p:spPr>
          <a:xfrm>
            <a:off x="821131" y="3527755"/>
            <a:ext cx="131674" cy="131674"/>
          </a:xfrm>
          <a:prstGeom prst="rect">
            <a:avLst/>
          </a:prstGeom>
        </p:spPr>
      </p:pic>
      <p:sp>
        <p:nvSpPr>
          <p:cNvPr id="22" name="Text 14"/>
          <p:cNvSpPr txBox="1"/>
          <p:nvPr/>
        </p:nvSpPr>
        <p:spPr>
          <a:xfrm>
            <a:off x="1115568" y="3447288"/>
            <a:ext cx="3840480" cy="292608"/>
          </a:xfrm>
          <a:prstGeom prst="rect">
            <a:avLst/>
          </a:prstGeom>
          <a:noFill/>
          <a:ln/>
        </p:spPr>
        <p:txBody>
          <a:bodyPr wrap="square" lIns="0" tIns="0" rIns="0" bIns="0" rtlCol="0" anchor="ctr"/>
          <a:lstStyle/>
          <a:p>
            <a:pPr indent="0" marL="0">
              <a:buNone/>
            </a:pPr>
            <a:r>
              <a:rPr lang="en-US" sz="1400" dirty="0">
                <a:solidFill>
                  <a:schemeClr val="tx1"/>
                </a:solidFill>
              </a:rPr>
              <a:t>Recovery takeover attempts</a:t>
            </a:r>
            <a:endParaRPr lang="en-US" sz="1400" dirty="0"/>
          </a:p>
        </p:txBody>
      </p:sp>
      <p:sp>
        <p:nvSpPr>
          <p:cNvPr id="23" name="limits"/>
          <p:cNvSpPr/>
          <p:nvPr/>
        </p:nvSpPr>
        <p:spPr>
          <a:xfrm>
            <a:off x="5349240" y="1188720"/>
            <a:ext cx="3246120" cy="2743200"/>
          </a:xfrm>
          <a:prstGeom prst="roundRect">
            <a:avLst>
              <a:gd name="adj" fmla="val 2667"/>
            </a:avLst>
          </a:prstGeom>
          <a:solidFill>
            <a:schemeClr val="accent6"/>
          </a:solidFill>
          <a:ln/>
        </p:spPr>
      </p:sp>
      <p:sp>
        <p:nvSpPr>
          <p:cNvPr id="24" name="Text 16"/>
          <p:cNvSpPr txBox="1"/>
          <p:nvPr/>
        </p:nvSpPr>
        <p:spPr>
          <a:xfrm>
            <a:off x="5577840" y="1325880"/>
            <a:ext cx="2743200" cy="320040"/>
          </a:xfrm>
          <a:prstGeom prst="rect">
            <a:avLst/>
          </a:prstGeom>
          <a:noFill/>
          <a:ln/>
        </p:spPr>
        <p:txBody>
          <a:bodyPr wrap="square" lIns="0" tIns="0" rIns="0" bIns="0" rtlCol="0" anchor="t"/>
          <a:lstStyle/>
          <a:p>
            <a:pPr indent="0" marL="0">
              <a:buNone/>
            </a:pPr>
            <a:r>
              <a:rPr lang="en-US" sz="1800" b="1" dirty="0">
                <a:solidFill>
                  <a:schemeClr val="accent3"/>
                </a:solidFill>
              </a:rPr>
              <a:t>Honest limits</a:t>
            </a:r>
            <a:endParaRPr lang="en-US" sz="1800" dirty="0"/>
          </a:p>
        </p:txBody>
      </p:sp>
      <p:sp>
        <p:nvSpPr>
          <p:cNvPr id="25" name="Shape 17"/>
          <p:cNvSpPr/>
          <p:nvPr/>
        </p:nvSpPr>
        <p:spPr>
          <a:xfrm>
            <a:off x="5577840" y="1792224"/>
            <a:ext cx="219456" cy="219456"/>
          </a:xfrm>
          <a:prstGeom prst="ellipse">
            <a:avLst/>
          </a:prstGeom>
          <a:solidFill>
            <a:schemeClr val="bg1"/>
          </a:solidFill>
          <a:ln/>
        </p:spPr>
      </p:sp>
      <p:pic>
        <p:nvPicPr>
          <p:cNvPr id="26" name="Image 6" descr="preencoded.png">    </p:cNvPr>
          <p:cNvPicPr>
            <a:picLocks noChangeAspect="1"/>
          </p:cNvPicPr>
          <p:nvPr/>
        </p:nvPicPr>
        <p:blipFill>
          <a:blip r:embed="rId7"/>
          <a:stretch>
            <a:fillRect/>
          </a:stretch>
        </p:blipFill>
        <p:spPr>
          <a:xfrm>
            <a:off x="5621731" y="1836115"/>
            <a:ext cx="131674" cy="131674"/>
          </a:xfrm>
          <a:prstGeom prst="rect">
            <a:avLst/>
          </a:prstGeom>
        </p:spPr>
      </p:pic>
      <p:sp>
        <p:nvSpPr>
          <p:cNvPr id="27" name="Text 18"/>
          <p:cNvSpPr txBox="1"/>
          <p:nvPr/>
        </p:nvSpPr>
        <p:spPr>
          <a:xfrm>
            <a:off x="5916168" y="1755648"/>
            <a:ext cx="2560320" cy="548640"/>
          </a:xfrm>
          <a:prstGeom prst="rect">
            <a:avLst/>
          </a:prstGeom>
          <a:noFill/>
          <a:ln/>
        </p:spPr>
        <p:txBody>
          <a:bodyPr wrap="square" lIns="0" tIns="0" rIns="0" bIns="0" rtlCol="0" anchor="t"/>
          <a:lstStyle/>
          <a:p>
            <a:pPr indent="0" marL="0">
              <a:buNone/>
            </a:pPr>
            <a:r>
              <a:rPr lang="en-US" sz="1400" dirty="0">
                <a:solidFill>
                  <a:schemeClr val="tx1"/>
                </a:solidFill>
              </a:rPr>
              <a:t>Live deepfakes: harder, not impossible</a:t>
            </a:r>
            <a:endParaRPr lang="en-US" sz="1400" dirty="0"/>
          </a:p>
        </p:txBody>
      </p:sp>
      <p:sp>
        <p:nvSpPr>
          <p:cNvPr id="28" name="Shape 19"/>
          <p:cNvSpPr/>
          <p:nvPr/>
        </p:nvSpPr>
        <p:spPr>
          <a:xfrm>
            <a:off x="5577840" y="2432304"/>
            <a:ext cx="219456" cy="219456"/>
          </a:xfrm>
          <a:prstGeom prst="ellipse">
            <a:avLst/>
          </a:prstGeom>
          <a:solidFill>
            <a:schemeClr val="bg1"/>
          </a:solidFill>
          <a:ln/>
        </p:spPr>
      </p:sp>
      <p:pic>
        <p:nvPicPr>
          <p:cNvPr id="29" name="Image 7" descr="preencoded.png">    </p:cNvPr>
          <p:cNvPicPr>
            <a:picLocks noChangeAspect="1"/>
          </p:cNvPicPr>
          <p:nvPr/>
        </p:nvPicPr>
        <p:blipFill>
          <a:blip r:embed="rId8"/>
          <a:stretch>
            <a:fillRect/>
          </a:stretch>
        </p:blipFill>
        <p:spPr>
          <a:xfrm>
            <a:off x="5621731" y="2476195"/>
            <a:ext cx="131674" cy="131674"/>
          </a:xfrm>
          <a:prstGeom prst="rect">
            <a:avLst/>
          </a:prstGeom>
        </p:spPr>
      </p:pic>
      <p:sp>
        <p:nvSpPr>
          <p:cNvPr id="30" name="Text 20"/>
          <p:cNvSpPr txBox="1"/>
          <p:nvPr/>
        </p:nvSpPr>
        <p:spPr>
          <a:xfrm>
            <a:off x="5916168" y="2395728"/>
            <a:ext cx="2560320" cy="548640"/>
          </a:xfrm>
          <a:prstGeom prst="rect">
            <a:avLst/>
          </a:prstGeom>
          <a:noFill/>
          <a:ln/>
        </p:spPr>
        <p:txBody>
          <a:bodyPr wrap="square" lIns="0" tIns="0" rIns="0" bIns="0" rtlCol="0" anchor="t"/>
          <a:lstStyle/>
          <a:p>
            <a:pPr indent="0" marL="0">
              <a:buNone/>
            </a:pPr>
            <a:r>
              <a:rPr lang="en-US" sz="1400" dirty="0">
                <a:solidFill>
                  <a:schemeClr val="tx1"/>
                </a:solidFill>
              </a:rPr>
              <a:t>Malware on the user's own device</a:t>
            </a:r>
            <a:endParaRPr lang="en-US" sz="1400" dirty="0"/>
          </a:p>
        </p:txBody>
      </p:sp>
      <p:sp>
        <p:nvSpPr>
          <p:cNvPr id="31" name="Shape 21"/>
          <p:cNvSpPr/>
          <p:nvPr/>
        </p:nvSpPr>
        <p:spPr>
          <a:xfrm>
            <a:off x="5577840" y="3072384"/>
            <a:ext cx="219456" cy="219456"/>
          </a:xfrm>
          <a:prstGeom prst="ellipse">
            <a:avLst/>
          </a:prstGeom>
          <a:solidFill>
            <a:schemeClr val="bg1"/>
          </a:solidFill>
          <a:ln/>
        </p:spPr>
      </p:sp>
      <p:pic>
        <p:nvPicPr>
          <p:cNvPr id="32" name="Image 8" descr="preencoded.png">    </p:cNvPr>
          <p:cNvPicPr>
            <a:picLocks noChangeAspect="1"/>
          </p:cNvPicPr>
          <p:nvPr/>
        </p:nvPicPr>
        <p:blipFill>
          <a:blip r:embed="rId9"/>
          <a:stretch>
            <a:fillRect/>
          </a:stretch>
        </p:blipFill>
        <p:spPr>
          <a:xfrm>
            <a:off x="5621731" y="3116275"/>
            <a:ext cx="131674" cy="131674"/>
          </a:xfrm>
          <a:prstGeom prst="rect">
            <a:avLst/>
          </a:prstGeom>
        </p:spPr>
      </p:pic>
      <p:sp>
        <p:nvSpPr>
          <p:cNvPr id="33" name="Text 22"/>
          <p:cNvSpPr txBox="1"/>
          <p:nvPr/>
        </p:nvSpPr>
        <p:spPr>
          <a:xfrm>
            <a:off x="5916168" y="3035808"/>
            <a:ext cx="2560320" cy="548640"/>
          </a:xfrm>
          <a:prstGeom prst="rect">
            <a:avLst/>
          </a:prstGeom>
          <a:noFill/>
          <a:ln/>
        </p:spPr>
        <p:txBody>
          <a:bodyPr wrap="square" lIns="0" tIns="0" rIns="0" bIns="0" rtlCol="0" anchor="t"/>
          <a:lstStyle/>
          <a:p>
            <a:pPr indent="0" marL="0">
              <a:buNone/>
            </a:pPr>
            <a:r>
              <a:rPr lang="en-US" sz="1400" dirty="0">
                <a:solidFill>
                  <a:schemeClr val="tx1"/>
                </a:solidFill>
              </a:rPr>
              <a:t>Face model not certified for production</a:t>
            </a:r>
            <a:endParaRPr lang="en-US" sz="1400" dirty="0"/>
          </a:p>
        </p:txBody>
      </p:sp>
      <p:sp>
        <p:nvSpPr>
          <p:cNvPr id="34" name="Text 23"/>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dirty="0">
                <a:solidFill>
                  <a:schemeClr val="tx2"/>
                </a:solidFill>
              </a:rPr>
              <a:t>Full threat model is part of the app, on a printable page.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1"/>
                </a:solidFill>
              </a:rPr>
              <a:t>Where it stands, and what's next</a:t>
            </a:r>
            <a:endParaRPr lang="en-US" sz="3000" dirty="0"/>
          </a:p>
        </p:txBody>
      </p:sp>
      <p:sp>
        <p:nvSpPr>
          <p:cNvPr id="3" name="stat 1"/>
          <p:cNvSpPr/>
          <p:nvPr/>
        </p:nvSpPr>
        <p:spPr>
          <a:xfrm>
            <a:off x="548640" y="1188720"/>
            <a:ext cx="3566160" cy="822960"/>
          </a:xfrm>
          <a:prstGeom prst="roundRect">
            <a:avLst>
              <a:gd name="adj" fmla="val 8889"/>
            </a:avLst>
          </a:prstGeom>
          <a:solidFill>
            <a:schemeClr val="accent1"/>
          </a:solidFill>
          <a:ln/>
        </p:spPr>
      </p:sp>
      <p:sp>
        <p:nvSpPr>
          <p:cNvPr id="4" name="Text 2"/>
          <p:cNvSpPr txBox="1"/>
          <p:nvPr/>
        </p:nvSpPr>
        <p:spPr>
          <a:xfrm>
            <a:off x="731520" y="1188720"/>
            <a:ext cx="1280160" cy="822960"/>
          </a:xfrm>
          <a:prstGeom prst="rect">
            <a:avLst/>
          </a:prstGeom>
          <a:noFill/>
          <a:ln/>
        </p:spPr>
        <p:txBody>
          <a:bodyPr wrap="square" lIns="0" tIns="0" rIns="0" bIns="0" rtlCol="0" anchor="ctr"/>
          <a:lstStyle/>
          <a:p>
            <a:pPr indent="0" marL="0">
              <a:buNone/>
            </a:pPr>
            <a:r>
              <a:rPr lang="en-US" sz="3200" b="1" dirty="0">
                <a:solidFill>
                  <a:schemeClr val="bg1"/>
                </a:solidFill>
              </a:rPr>
              <a:t>0</a:t>
            </a:r>
            <a:endParaRPr lang="en-US" sz="3200" dirty="0"/>
          </a:p>
        </p:txBody>
      </p:sp>
      <p:sp>
        <p:nvSpPr>
          <p:cNvPr id="5" name="Text 3"/>
          <p:cNvSpPr txBox="1"/>
          <p:nvPr/>
        </p:nvSpPr>
        <p:spPr>
          <a:xfrm>
            <a:off x="2011680" y="1188720"/>
            <a:ext cx="2011680" cy="822960"/>
          </a:xfrm>
          <a:prstGeom prst="rect">
            <a:avLst/>
          </a:prstGeom>
          <a:noFill/>
          <a:ln/>
        </p:spPr>
        <p:txBody>
          <a:bodyPr wrap="square" lIns="0" tIns="0" rIns="0" bIns="0" rtlCol="0" anchor="ctr"/>
          <a:lstStyle/>
          <a:p>
            <a:pPr indent="0" marL="0">
              <a:buNone/>
            </a:pPr>
            <a:r>
              <a:rPr lang="en-US" sz="1400" dirty="0">
                <a:solidFill>
                  <a:schemeClr val="accent5"/>
                </a:solidFill>
              </a:rPr>
              <a:t>passwords or OTPs stored</a:t>
            </a:r>
            <a:endParaRPr lang="en-US" sz="1400" dirty="0"/>
          </a:p>
        </p:txBody>
      </p:sp>
      <p:sp>
        <p:nvSpPr>
          <p:cNvPr id="6" name="stat 2"/>
          <p:cNvSpPr/>
          <p:nvPr/>
        </p:nvSpPr>
        <p:spPr>
          <a:xfrm>
            <a:off x="548640" y="2148840"/>
            <a:ext cx="3566160" cy="822960"/>
          </a:xfrm>
          <a:prstGeom prst="roundRect">
            <a:avLst>
              <a:gd name="adj" fmla="val 8889"/>
            </a:avLst>
          </a:prstGeom>
          <a:solidFill>
            <a:schemeClr val="bg2"/>
          </a:solidFill>
          <a:ln/>
        </p:spPr>
      </p:sp>
      <p:sp>
        <p:nvSpPr>
          <p:cNvPr id="7" name="Text 5"/>
          <p:cNvSpPr txBox="1"/>
          <p:nvPr/>
        </p:nvSpPr>
        <p:spPr>
          <a:xfrm>
            <a:off x="731520" y="2148840"/>
            <a:ext cx="1280160" cy="822960"/>
          </a:xfrm>
          <a:prstGeom prst="rect">
            <a:avLst/>
          </a:prstGeom>
          <a:noFill/>
          <a:ln/>
        </p:spPr>
        <p:txBody>
          <a:bodyPr wrap="square" lIns="0" tIns="0" rIns="0" bIns="0" rtlCol="0" anchor="ctr"/>
          <a:lstStyle/>
          <a:p>
            <a:pPr indent="0" marL="0">
              <a:buNone/>
            </a:pPr>
            <a:r>
              <a:rPr lang="en-US" sz="3200" b="1" dirty="0">
                <a:solidFill>
                  <a:schemeClr val="accent1"/>
                </a:solidFill>
              </a:rPr>
              <a:t>4 / 4</a:t>
            </a:r>
            <a:endParaRPr lang="en-US" sz="3200" dirty="0"/>
          </a:p>
        </p:txBody>
      </p:sp>
      <p:sp>
        <p:nvSpPr>
          <p:cNvPr id="8" name="Text 6"/>
          <p:cNvSpPr txBox="1"/>
          <p:nvPr/>
        </p:nvSpPr>
        <p:spPr>
          <a:xfrm>
            <a:off x="2011680" y="2148840"/>
            <a:ext cx="2011680" cy="822960"/>
          </a:xfrm>
          <a:prstGeom prst="rect">
            <a:avLst/>
          </a:prstGeom>
          <a:noFill/>
          <a:ln/>
        </p:spPr>
        <p:txBody>
          <a:bodyPr wrap="square" lIns="0" tIns="0" rIns="0" bIns="0" rtlCol="0" anchor="ctr"/>
          <a:lstStyle/>
          <a:p>
            <a:pPr indent="0" marL="0">
              <a:buNone/>
            </a:pPr>
            <a:r>
              <a:rPr lang="en-US" sz="1400" dirty="0">
                <a:solidFill>
                  <a:schemeClr val="tx1"/>
                </a:solidFill>
              </a:rPr>
              <a:t>phishing attacks blocked</a:t>
            </a:r>
            <a:endParaRPr lang="en-US" sz="1400" dirty="0"/>
          </a:p>
        </p:txBody>
      </p:sp>
      <p:sp>
        <p:nvSpPr>
          <p:cNvPr id="9" name="stat 3"/>
          <p:cNvSpPr/>
          <p:nvPr/>
        </p:nvSpPr>
        <p:spPr>
          <a:xfrm>
            <a:off x="548640" y="3108960"/>
            <a:ext cx="3566160" cy="822960"/>
          </a:xfrm>
          <a:prstGeom prst="roundRect">
            <a:avLst>
              <a:gd name="adj" fmla="val 8889"/>
            </a:avLst>
          </a:prstGeom>
          <a:solidFill>
            <a:schemeClr val="bg2"/>
          </a:solidFill>
          <a:ln/>
        </p:spPr>
      </p:sp>
      <p:sp>
        <p:nvSpPr>
          <p:cNvPr id="10" name="Text 8"/>
          <p:cNvSpPr txBox="1"/>
          <p:nvPr/>
        </p:nvSpPr>
        <p:spPr>
          <a:xfrm>
            <a:off x="731520" y="3108960"/>
            <a:ext cx="1280160" cy="822960"/>
          </a:xfrm>
          <a:prstGeom prst="rect">
            <a:avLst/>
          </a:prstGeom>
          <a:noFill/>
          <a:ln/>
        </p:spPr>
        <p:txBody>
          <a:bodyPr wrap="square" lIns="0" tIns="0" rIns="0" bIns="0" rtlCol="0" anchor="ctr"/>
          <a:lstStyle/>
          <a:p>
            <a:pPr indent="0" marL="0">
              <a:buNone/>
            </a:pPr>
            <a:r>
              <a:rPr lang="en-US" sz="3200" b="1" dirty="0">
                <a:solidFill>
                  <a:schemeClr val="accent1"/>
                </a:solidFill>
              </a:rPr>
              <a:t>7 / 7</a:t>
            </a:r>
            <a:endParaRPr lang="en-US" sz="3200" dirty="0"/>
          </a:p>
        </p:txBody>
      </p:sp>
      <p:sp>
        <p:nvSpPr>
          <p:cNvPr id="11" name="Text 9"/>
          <p:cNvSpPr txBox="1"/>
          <p:nvPr/>
        </p:nvSpPr>
        <p:spPr>
          <a:xfrm>
            <a:off x="2011680" y="3108960"/>
            <a:ext cx="2011680" cy="822960"/>
          </a:xfrm>
          <a:prstGeom prst="rect">
            <a:avLst/>
          </a:prstGeom>
          <a:noFill/>
          <a:ln/>
        </p:spPr>
        <p:txBody>
          <a:bodyPr wrap="square" lIns="0" tIns="0" rIns="0" bIns="0" rtlCol="0" anchor="ctr"/>
          <a:lstStyle/>
          <a:p>
            <a:pPr indent="0" marL="0">
              <a:buNone/>
            </a:pPr>
            <a:r>
              <a:rPr lang="en-US" sz="1400" dirty="0">
                <a:solidFill>
                  <a:schemeClr val="tx1"/>
                </a:solidFill>
              </a:rPr>
              <a:t>requirements working</a:t>
            </a:r>
            <a:endParaRPr lang="en-US" sz="1400" dirty="0"/>
          </a:p>
        </p:txBody>
      </p:sp>
      <p:sp>
        <p:nvSpPr>
          <p:cNvPr id="12" name="Text 10"/>
          <p:cNvSpPr txBox="1"/>
          <p:nvPr/>
        </p:nvSpPr>
        <p:spPr>
          <a:xfrm>
            <a:off x="4480560" y="1188720"/>
            <a:ext cx="4114800" cy="320040"/>
          </a:xfrm>
          <a:prstGeom prst="rect">
            <a:avLst/>
          </a:prstGeom>
          <a:noFill/>
          <a:ln/>
        </p:spPr>
        <p:txBody>
          <a:bodyPr wrap="square" lIns="0" tIns="0" rIns="0" bIns="0" rtlCol="0" anchor="t"/>
          <a:lstStyle/>
          <a:p>
            <a:pPr indent="0" marL="0">
              <a:buNone/>
            </a:pPr>
            <a:r>
              <a:rPr lang="en-US" sz="1800" b="1" dirty="0">
                <a:solidFill>
                  <a:schemeClr val="tx1"/>
                </a:solidFill>
              </a:rPr>
              <a:t>Next steps</a:t>
            </a:r>
            <a:endParaRPr lang="en-US" sz="1800" dirty="0"/>
          </a:p>
        </p:txBody>
      </p:sp>
      <p:sp>
        <p:nvSpPr>
          <p:cNvPr id="13" name="Shape 11"/>
          <p:cNvSpPr/>
          <p:nvPr/>
        </p:nvSpPr>
        <p:spPr>
          <a:xfrm>
            <a:off x="4480560" y="1645920"/>
            <a:ext cx="347472" cy="347472"/>
          </a:xfrm>
          <a:prstGeom prst="ellipse">
            <a:avLst/>
          </a:prstGeom>
          <a:solidFill>
            <a:schemeClr val="accent5"/>
          </a:solidFill>
          <a:ln/>
        </p:spPr>
      </p:sp>
      <p:pic>
        <p:nvPicPr>
          <p:cNvPr id="14" name="Image 0" descr="preencoded.png">    </p:cNvPr>
          <p:cNvPicPr>
            <a:picLocks noChangeAspect="1"/>
          </p:cNvPicPr>
          <p:nvPr/>
        </p:nvPicPr>
        <p:blipFill>
          <a:blip r:embed="rId1"/>
          <a:stretch>
            <a:fillRect/>
          </a:stretch>
        </p:blipFill>
        <p:spPr>
          <a:xfrm>
            <a:off x="4558741" y="1724101"/>
            <a:ext cx="191110" cy="191110"/>
          </a:xfrm>
          <a:prstGeom prst="rect">
            <a:avLst/>
          </a:prstGeom>
        </p:spPr>
      </p:pic>
      <p:sp>
        <p:nvSpPr>
          <p:cNvPr id="15" name="Text 12"/>
          <p:cNvSpPr txBox="1"/>
          <p:nvPr/>
        </p:nvSpPr>
        <p:spPr>
          <a:xfrm>
            <a:off x="4983480" y="1645920"/>
            <a:ext cx="3611880" cy="347472"/>
          </a:xfrm>
          <a:prstGeom prst="rect">
            <a:avLst/>
          </a:prstGeom>
          <a:noFill/>
          <a:ln/>
        </p:spPr>
        <p:txBody>
          <a:bodyPr wrap="square" lIns="0" tIns="0" rIns="0" bIns="0" rtlCol="0" anchor="ctr"/>
          <a:lstStyle/>
          <a:p>
            <a:pPr indent="0" marL="0">
              <a:buNone/>
            </a:pPr>
            <a:r>
              <a:rPr lang="en-US" sz="1400" dirty="0">
                <a:solidFill>
                  <a:schemeClr val="tx1"/>
                </a:solidFill>
              </a:rPr>
              <a:t>Tune the face and hand checks with more people</a:t>
            </a:r>
            <a:endParaRPr lang="en-US" sz="1400" dirty="0"/>
          </a:p>
        </p:txBody>
      </p:sp>
      <p:sp>
        <p:nvSpPr>
          <p:cNvPr id="16" name="Shape 13"/>
          <p:cNvSpPr/>
          <p:nvPr/>
        </p:nvSpPr>
        <p:spPr>
          <a:xfrm>
            <a:off x="4480560" y="2103120"/>
            <a:ext cx="347472" cy="347472"/>
          </a:xfrm>
          <a:prstGeom prst="ellipse">
            <a:avLst/>
          </a:prstGeom>
          <a:solidFill>
            <a:schemeClr val="accent5"/>
          </a:solidFill>
          <a:ln/>
        </p:spPr>
      </p:sp>
      <p:pic>
        <p:nvPicPr>
          <p:cNvPr id="17" name="Image 1" descr="preencoded.png">    </p:cNvPr>
          <p:cNvPicPr>
            <a:picLocks noChangeAspect="1"/>
          </p:cNvPicPr>
          <p:nvPr/>
        </p:nvPicPr>
        <p:blipFill>
          <a:blip r:embed="rId2"/>
          <a:stretch>
            <a:fillRect/>
          </a:stretch>
        </p:blipFill>
        <p:spPr>
          <a:xfrm>
            <a:off x="4558741" y="2181301"/>
            <a:ext cx="191110" cy="191110"/>
          </a:xfrm>
          <a:prstGeom prst="rect">
            <a:avLst/>
          </a:prstGeom>
        </p:spPr>
      </p:pic>
      <p:sp>
        <p:nvSpPr>
          <p:cNvPr id="18" name="Text 14"/>
          <p:cNvSpPr txBox="1"/>
          <p:nvPr/>
        </p:nvSpPr>
        <p:spPr>
          <a:xfrm>
            <a:off x="4983480" y="2103120"/>
            <a:ext cx="3611880" cy="347472"/>
          </a:xfrm>
          <a:prstGeom prst="rect">
            <a:avLst/>
          </a:prstGeom>
          <a:noFill/>
          <a:ln/>
        </p:spPr>
        <p:txBody>
          <a:bodyPr wrap="square" lIns="0" tIns="0" rIns="0" bIns="0" rtlCol="0" anchor="ctr"/>
          <a:lstStyle/>
          <a:p>
            <a:pPr indent="0" marL="0">
              <a:buNone/>
            </a:pPr>
            <a:r>
              <a:rPr lang="en-US" sz="1400" dirty="0">
                <a:solidFill>
                  <a:schemeClr val="tx1"/>
                </a:solidFill>
              </a:rPr>
              <a:t>Add an anti-spoof model for screens and masks</a:t>
            </a:r>
            <a:endParaRPr lang="en-US" sz="1400" dirty="0"/>
          </a:p>
        </p:txBody>
      </p:sp>
      <p:sp>
        <p:nvSpPr>
          <p:cNvPr id="19" name="Shape 15"/>
          <p:cNvSpPr/>
          <p:nvPr/>
        </p:nvSpPr>
        <p:spPr>
          <a:xfrm>
            <a:off x="4480560" y="2560320"/>
            <a:ext cx="347472" cy="347472"/>
          </a:xfrm>
          <a:prstGeom prst="ellipse">
            <a:avLst/>
          </a:prstGeom>
          <a:solidFill>
            <a:schemeClr val="accent5"/>
          </a:solidFill>
          <a:ln/>
        </p:spPr>
      </p:sp>
      <p:pic>
        <p:nvPicPr>
          <p:cNvPr id="20" name="Image 2" descr="preencoded.png">    </p:cNvPr>
          <p:cNvPicPr>
            <a:picLocks noChangeAspect="1"/>
          </p:cNvPicPr>
          <p:nvPr/>
        </p:nvPicPr>
        <p:blipFill>
          <a:blip r:embed="rId3"/>
          <a:stretch>
            <a:fillRect/>
          </a:stretch>
        </p:blipFill>
        <p:spPr>
          <a:xfrm>
            <a:off x="4558741" y="2638501"/>
            <a:ext cx="191110" cy="191110"/>
          </a:xfrm>
          <a:prstGeom prst="rect">
            <a:avLst/>
          </a:prstGeom>
        </p:spPr>
      </p:pic>
      <p:sp>
        <p:nvSpPr>
          <p:cNvPr id="21" name="Text 16"/>
          <p:cNvSpPr txBox="1"/>
          <p:nvPr/>
        </p:nvSpPr>
        <p:spPr>
          <a:xfrm>
            <a:off x="4983480" y="2560320"/>
            <a:ext cx="3611880" cy="347472"/>
          </a:xfrm>
          <a:prstGeom prst="rect">
            <a:avLst/>
          </a:prstGeom>
          <a:noFill/>
          <a:ln/>
        </p:spPr>
        <p:txBody>
          <a:bodyPr wrap="square" lIns="0" tIns="0" rIns="0" bIns="0" rtlCol="0" anchor="ctr"/>
          <a:lstStyle/>
          <a:p>
            <a:pPr indent="0" marL="0">
              <a:buNone/>
            </a:pPr>
            <a:r>
              <a:rPr lang="en-US" sz="1400" dirty="0">
                <a:solidFill>
                  <a:schemeClr val="tx1"/>
                </a:solidFill>
              </a:rPr>
              <a:t>Hindi and regional-language screens</a:t>
            </a:r>
            <a:endParaRPr lang="en-US" sz="1400" dirty="0"/>
          </a:p>
        </p:txBody>
      </p:sp>
      <p:sp>
        <p:nvSpPr>
          <p:cNvPr id="22" name="Shape 17"/>
          <p:cNvSpPr/>
          <p:nvPr/>
        </p:nvSpPr>
        <p:spPr>
          <a:xfrm>
            <a:off x="4480560" y="3017520"/>
            <a:ext cx="347472" cy="347472"/>
          </a:xfrm>
          <a:prstGeom prst="ellipse">
            <a:avLst/>
          </a:prstGeom>
          <a:solidFill>
            <a:schemeClr val="accent5"/>
          </a:solidFill>
          <a:ln/>
        </p:spPr>
      </p:sp>
      <p:pic>
        <p:nvPicPr>
          <p:cNvPr id="23" name="Image 3" descr="preencoded.png">    </p:cNvPr>
          <p:cNvPicPr>
            <a:picLocks noChangeAspect="1"/>
          </p:cNvPicPr>
          <p:nvPr/>
        </p:nvPicPr>
        <p:blipFill>
          <a:blip r:embed="rId4"/>
          <a:stretch>
            <a:fillRect/>
          </a:stretch>
        </p:blipFill>
        <p:spPr>
          <a:xfrm>
            <a:off x="4558741" y="3095701"/>
            <a:ext cx="191110" cy="191110"/>
          </a:xfrm>
          <a:prstGeom prst="rect">
            <a:avLst/>
          </a:prstGeom>
        </p:spPr>
      </p:pic>
      <p:sp>
        <p:nvSpPr>
          <p:cNvPr id="24" name="Text 18"/>
          <p:cNvSpPr txBox="1"/>
          <p:nvPr/>
        </p:nvSpPr>
        <p:spPr>
          <a:xfrm>
            <a:off x="4983480" y="3017520"/>
            <a:ext cx="3611880" cy="347472"/>
          </a:xfrm>
          <a:prstGeom prst="rect">
            <a:avLst/>
          </a:prstGeom>
          <a:noFill/>
          <a:ln/>
        </p:spPr>
        <p:txBody>
          <a:bodyPr wrap="square" lIns="0" tIns="0" rIns="0" bIns="0" rtlCol="0" anchor="ctr"/>
          <a:lstStyle/>
          <a:p>
            <a:pPr indent="0" marL="0">
              <a:buNone/>
            </a:pPr>
            <a:r>
              <a:rPr lang="en-US" sz="1400" dirty="0">
                <a:solidFill>
                  <a:schemeClr val="tx1"/>
                </a:solidFill>
              </a:rPr>
              <a:t>Email alerts for recovery</a:t>
            </a:r>
            <a:endParaRPr lang="en-US" sz="1400" dirty="0"/>
          </a:p>
        </p:txBody>
      </p:sp>
      <p:sp>
        <p:nvSpPr>
          <p:cNvPr id="25" name="Shape 19"/>
          <p:cNvSpPr/>
          <p:nvPr/>
        </p:nvSpPr>
        <p:spPr>
          <a:xfrm>
            <a:off x="4480560" y="3474720"/>
            <a:ext cx="347472" cy="347472"/>
          </a:xfrm>
          <a:prstGeom prst="ellipse">
            <a:avLst/>
          </a:prstGeom>
          <a:solidFill>
            <a:schemeClr val="accent5"/>
          </a:solidFill>
          <a:ln/>
        </p:spPr>
      </p:sp>
      <p:pic>
        <p:nvPicPr>
          <p:cNvPr id="26" name="Image 4" descr="preencoded.png">    </p:cNvPr>
          <p:cNvPicPr>
            <a:picLocks noChangeAspect="1"/>
          </p:cNvPicPr>
          <p:nvPr/>
        </p:nvPicPr>
        <p:blipFill>
          <a:blip r:embed="rId5"/>
          <a:stretch>
            <a:fillRect/>
          </a:stretch>
        </p:blipFill>
        <p:spPr>
          <a:xfrm>
            <a:off x="4558741" y="3552901"/>
            <a:ext cx="191110" cy="191110"/>
          </a:xfrm>
          <a:prstGeom prst="rect">
            <a:avLst/>
          </a:prstGeom>
        </p:spPr>
      </p:pic>
      <p:sp>
        <p:nvSpPr>
          <p:cNvPr id="27" name="Text 20"/>
          <p:cNvSpPr txBox="1"/>
          <p:nvPr/>
        </p:nvSpPr>
        <p:spPr>
          <a:xfrm>
            <a:off x="4983480" y="3474720"/>
            <a:ext cx="3611880" cy="347472"/>
          </a:xfrm>
          <a:prstGeom prst="rect">
            <a:avLst/>
          </a:prstGeom>
          <a:noFill/>
          <a:ln/>
        </p:spPr>
        <p:txBody>
          <a:bodyPr wrap="square" lIns="0" tIns="0" rIns="0" bIns="0" rtlCol="0" anchor="ctr"/>
          <a:lstStyle/>
          <a:p>
            <a:pPr indent="0" marL="0">
              <a:buNone/>
            </a:pPr>
            <a:r>
              <a:rPr lang="en-US" sz="1400" dirty="0">
                <a:solidFill>
                  <a:schemeClr val="tx1"/>
                </a:solidFill>
              </a:rPr>
              <a:t>Deploy on a real domain</a:t>
            </a:r>
            <a:endParaRPr lang="en-US" sz="1400" dirty="0"/>
          </a:p>
        </p:txBody>
      </p:sp>
      <p:sp>
        <p:nvSpPr>
          <p:cNvPr id="28" name="Text 21"/>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400" dirty="0">
                <a:solidFill>
                  <a:schemeClr val="tx2"/>
                </a:solidFill>
              </a:rPr>
              <a:t>Built on open standards (FIDO2 / WebAuthn): works with the phones and laptops people already own.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4572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THANK YOU</a:t>
            </a:r>
            <a:endParaRPr lang="en-US" sz="1200" dirty="0"/>
          </a:p>
        </p:txBody>
      </p:sp>
      <p:sp>
        <p:nvSpPr>
          <p:cNvPr id="3" name="Text 0"/>
          <p:cNvSpPr/>
          <p:nvPr>
            <p:ph idx="101" type="title" hasCustomPrompt="1"/>
          </p:nvPr>
        </p:nvSpPr>
        <p:spPr>
          <a:xfrm>
            <a:off x="548640" y="1600200"/>
            <a:ext cx="4754880" cy="1371600"/>
          </a:xfrm>
          <a:prstGeom prst="rect">
            <a:avLst/>
          </a:prstGeom>
          <a:noFill/>
          <a:ln/>
        </p:spPr>
        <p:txBody>
          <a:bodyPr wrap="square" lIns="0" tIns="0" rIns="0" bIns="0" rtlCol="0" anchor="ctr"/>
          <a:lstStyle/>
          <a:p>
            <a:pPr algn="l" indent="0" marL="0">
              <a:buNone/>
            </a:pPr>
            <a:r>
              <a:rPr lang="en-US" sz="4000" b="1" dirty="0">
                <a:solidFill>
                  <a:schemeClr val="tx1"/>
                </a:solidFill>
              </a:rPr>
              <a:t>Nothing left to phish</a:t>
            </a:r>
            <a:endParaRPr lang="en-US" sz="4000" dirty="0"/>
          </a:p>
        </p:txBody>
      </p:sp>
      <p:sp>
        <p:nvSpPr>
          <p:cNvPr id="4" name="Text 0"/>
          <p:cNvSpPr/>
          <p:nvPr>
            <p:ph idx="102" type="body" hasCustomPrompt="1"/>
          </p:nvPr>
        </p:nvSpPr>
        <p:spPr>
          <a:xfrm>
            <a:off x="548640" y="3017520"/>
            <a:ext cx="4572000" cy="457200"/>
          </a:xfrm>
          <a:prstGeom prst="rect">
            <a:avLst/>
          </a:prstGeom>
          <a:noFill/>
          <a:ln/>
        </p:spPr>
        <p:txBody>
          <a:bodyPr wrap="square" lIns="0" tIns="0" rIns="0" bIns="0" rtlCol="0" anchor="t"/>
          <a:lstStyle/>
          <a:p>
            <a:pPr algn="l" indent="0" marL="0">
              <a:buNone/>
            </a:pPr>
            <a:r>
              <a:rPr lang="en-US" sz="1800" dirty="0">
                <a:solidFill>
                  <a:schemeClr val="tx2"/>
                </a:solidFill>
              </a:rPr>
              <a:t>No passwords. No OTPs. Questions?</a:t>
            </a:r>
            <a:endParaRPr lang="en-US" sz="1800" dirty="0"/>
          </a:p>
        </p:txBody>
      </p:sp>
      <p:sp>
        <p:nvSpPr>
          <p:cNvPr id="5" name="cover circle"/>
          <p:cNvSpPr/>
          <p:nvPr/>
        </p:nvSpPr>
        <p:spPr>
          <a:xfrm>
            <a:off x="5760720" y="960120"/>
            <a:ext cx="2468880" cy="2468880"/>
          </a:xfrm>
          <a:prstGeom prst="ellipse">
            <a:avLst/>
          </a:prstGeom>
          <a:solidFill>
            <a:schemeClr val="accent5"/>
          </a:solidFill>
          <a:ln/>
        </p:spPr>
      </p:sp>
      <p:pic>
        <p:nvPicPr>
          <p:cNvPr id="6" name="cover key" descr="preencoded.png">    </p:cNvPr>
          <p:cNvPicPr>
            <a:picLocks noChangeAspect="1"/>
          </p:cNvPicPr>
          <p:nvPr/>
        </p:nvPicPr>
        <p:blipFill>
          <a:blip r:embed="rId1"/>
          <a:stretch>
            <a:fillRect/>
          </a:stretch>
        </p:blipFill>
        <p:spPr>
          <a:xfrm>
            <a:off x="6373368" y="1581912"/>
            <a:ext cx="1234440" cy="1234440"/>
          </a:xfrm>
          <a:prstGeom prst="rect">
            <a:avLst/>
          </a:prstGeom>
        </p:spPr>
      </p:pic>
      <p:sp>
        <p:nvSpPr>
          <p:cNvPr id="7" name="cover face circle"/>
          <p:cNvSpPr/>
          <p:nvPr/>
        </p:nvSpPr>
        <p:spPr>
          <a:xfrm>
            <a:off x="5440680" y="2880360"/>
            <a:ext cx="1051560" cy="1051560"/>
          </a:xfrm>
          <a:prstGeom prst="ellipse">
            <a:avLst/>
          </a:prstGeom>
          <a:solidFill>
            <a:schemeClr val="accent1"/>
          </a:solidFill>
          <a:ln/>
        </p:spPr>
      </p:sp>
      <p:pic>
        <p:nvPicPr>
          <p:cNvPr id="8" name="cover face icon" descr="preencoded.png">    </p:cNvPr>
          <p:cNvPicPr>
            <a:picLocks noChangeAspect="1"/>
          </p:cNvPicPr>
          <p:nvPr/>
        </p:nvPicPr>
        <p:blipFill>
          <a:blip r:embed="rId2"/>
          <a:stretch>
            <a:fillRect/>
          </a:stretch>
        </p:blipFill>
        <p:spPr>
          <a:xfrm>
            <a:off x="5703570" y="3143250"/>
            <a:ext cx="525780" cy="525780"/>
          </a:xfrm>
          <a:prstGeom prst="rect">
            <a:avLst/>
          </a:prstGeom>
        </p:spPr>
      </p:pic>
      <p:sp>
        <p:nvSpPr>
          <p:cNvPr id="9" name="cover hand circle"/>
          <p:cNvSpPr/>
          <p:nvPr/>
        </p:nvSpPr>
        <p:spPr>
          <a:xfrm>
            <a:off x="7498080" y="2880360"/>
            <a:ext cx="1051560" cy="1051560"/>
          </a:xfrm>
          <a:prstGeom prst="ellipse">
            <a:avLst/>
          </a:prstGeom>
          <a:solidFill>
            <a:schemeClr val="accent1"/>
          </a:solidFill>
          <a:ln/>
        </p:spPr>
      </p:sp>
      <p:pic>
        <p:nvPicPr>
          <p:cNvPr id="10" name="cover hand icon" descr="preencoded.png">    </p:cNvPr>
          <p:cNvPicPr>
            <a:picLocks noChangeAspect="1"/>
          </p:cNvPicPr>
          <p:nvPr/>
        </p:nvPicPr>
        <p:blipFill>
          <a:blip r:embed="rId3"/>
          <a:stretch>
            <a:fillRect/>
          </a:stretch>
        </p:blipFill>
        <p:spPr>
          <a:xfrm>
            <a:off x="7760970" y="3143250"/>
            <a:ext cx="525780" cy="525780"/>
          </a:xfrm>
          <a:prstGeom prst="rect">
            <a:avLst/>
          </a:prstGeom>
        </p:spPr>
      </p:pic>
    </p:spTree>
  </p:cSld>
  <p:clrMapOvr>
    <a:masterClrMapping/>
  </p:clrMapOvr>
</p:sld>
</file>

<file path=ppt/theme/theme1.xml><?xml version="1.0" encoding="utf-8"?>
<a:theme xmlns:a="http://schemas.openxmlformats.org/drawingml/2006/main" name="Secure">
  <a:themeElements>
    <a:clrScheme name="Secure">
      <a:dk1>
        <a:srgbClr val="1E293B"/>
      </a:dk1>
      <a:lt1>
        <a:srgbClr val="FFFFFF"/>
      </a:lt1>
      <a:dk2>
        <a:srgbClr val="64748B"/>
      </a:dk2>
      <a:lt2>
        <a:srgbClr val="F1F5F4"/>
      </a:lt2>
      <a:accent1>
        <a:srgbClr val="0F766E"/>
      </a:accent1>
      <a:accent2>
        <a:srgbClr val="14B8A6"/>
      </a:accent2>
      <a:accent3>
        <a:srgbClr val="E11D48"/>
      </a:accent3>
      <a:accent4>
        <a:srgbClr val="D97706"/>
      </a:accent4>
      <a:accent5>
        <a:srgbClr val="D5EDE9"/>
      </a:accent5>
      <a:accent6>
        <a:srgbClr val="FDE2E7"/>
      </a:accent6>
      <a:hlink>
        <a:srgbClr val="0F766E"/>
      </a:hlink>
      <a:folHlink>
        <a:srgbClr val="64748B"/>
      </a:folHlink>
    </a:clrScheme>
    <a:fontScheme name="Secu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 in without a password: phase two</dc:title>
  <dc:subject>PptxGenJS Presentation</dc:subject>
  <dc:creator>PptxGenJS</dc:creator>
  <cp:lastModifiedBy>PptxGenJS</cp:lastModifiedBy>
  <cp:revision>1</cp:revision>
  <dcterms:created xsi:type="dcterms:W3CDTF">2026-10-15T12:04:23Z</dcterms:created>
  <dcterms:modified xsi:type="dcterms:W3CDTF">2026-10-15T12:04:23Z</dcterms:modified>
</cp:coreProperties>
</file>